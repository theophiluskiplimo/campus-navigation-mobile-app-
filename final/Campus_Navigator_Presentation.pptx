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22301F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22301F"/>
                </a:solidFill>
                <a:latin typeface="Calibri" panose="020F0502020204030204"/>
              </a:rPr>
              <a:t>Task Success Rate by Scenario</a:t>
            </a:r>
            <a:endParaRPr sz="1200" b="0" i="0" u="none" strike="noStrike">
              <a:solidFill>
                <a:srgbClr val="22301F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 (%)</c:v>
                </c:pt>
              </c:strCache>
            </c:strRef>
          </c:tx>
          <c:spPr>
            <a:solidFill>
              <a:srgbClr val="1B5E2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000" b="0" i="0" u="none" strike="noStrike" kern="1200" baseline="0">
                    <a:solidFill>
                      <a:srgbClr val="22301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Search Building</c:v>
                </c:pt>
                <c:pt idx="1">
                  <c:v>Get Directions</c:v>
                </c:pt>
                <c:pt idx="2">
                  <c:v>Find Lab/Hall</c:v>
                </c:pt>
                <c:pt idx="3">
                  <c:v>Save Location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90</c:v>
                </c:pt>
                <c:pt idx="2">
                  <c:v>80</c:v>
                </c:pt>
                <c:pt idx="3">
                  <c:v>100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5B6B57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</c:scaling>
        <c:delete val="0"/>
        <c:axPos val="b"/>
        <c:majorGridlines>
          <c:spPr>
            <a:ln w="12700" cap="flat" cmpd="sng" algn="ctr">
              <a:solidFill>
                <a:srgbClr val="E1E8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5B6B57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aa00d8e4-997b-4162-a77f-a0d27a6b82ac}"/>
      </c:ext>
    </c:extLst>
  </c:chart>
  <c:spPr>
    <a:noFill/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image" Target="../media/image2.png"/><Relationship Id="rId5" Type="http://schemas.openxmlformats.org/officeDocument/2006/relationships/tags" Target="../tags/tag5.xml"/><Relationship Id="rId44" Type="http://schemas.openxmlformats.org/officeDocument/2006/relationships/notesSlide" Target="../notesSlides/notesSlide4.xml"/><Relationship Id="rId43" Type="http://schemas.openxmlformats.org/officeDocument/2006/relationships/slideLayout" Target="../slideLayouts/slideLayout1.xml"/><Relationship Id="rId42" Type="http://schemas.openxmlformats.org/officeDocument/2006/relationships/tags" Target="../tags/tag36.xml"/><Relationship Id="rId41" Type="http://schemas.openxmlformats.org/officeDocument/2006/relationships/image" Target="../media/image8.png"/><Relationship Id="rId40" Type="http://schemas.openxmlformats.org/officeDocument/2006/relationships/tags" Target="../tags/tag35.xml"/><Relationship Id="rId4" Type="http://schemas.openxmlformats.org/officeDocument/2006/relationships/tags" Target="../tags/tag4.xml"/><Relationship Id="rId39" Type="http://schemas.openxmlformats.org/officeDocument/2006/relationships/tags" Target="../tags/tag34.xml"/><Relationship Id="rId38" Type="http://schemas.openxmlformats.org/officeDocument/2006/relationships/tags" Target="../tags/tag33.xml"/><Relationship Id="rId37" Type="http://schemas.openxmlformats.org/officeDocument/2006/relationships/tags" Target="../tags/tag32.xml"/><Relationship Id="rId36" Type="http://schemas.openxmlformats.org/officeDocument/2006/relationships/tags" Target="../tags/tag31.xml"/><Relationship Id="rId35" Type="http://schemas.openxmlformats.org/officeDocument/2006/relationships/tags" Target="../tags/tag30.xml"/><Relationship Id="rId34" Type="http://schemas.openxmlformats.org/officeDocument/2006/relationships/image" Target="../media/image4.png"/><Relationship Id="rId33" Type="http://schemas.openxmlformats.org/officeDocument/2006/relationships/tags" Target="../tags/tag29.xml"/><Relationship Id="rId32" Type="http://schemas.openxmlformats.org/officeDocument/2006/relationships/tags" Target="../tags/tag28.xml"/><Relationship Id="rId31" Type="http://schemas.openxmlformats.org/officeDocument/2006/relationships/tags" Target="../tags/tag27.xml"/><Relationship Id="rId30" Type="http://schemas.openxmlformats.org/officeDocument/2006/relationships/tags" Target="../tags/tag26.xml"/><Relationship Id="rId3" Type="http://schemas.openxmlformats.org/officeDocument/2006/relationships/tags" Target="../tags/tag3.xml"/><Relationship Id="rId29" Type="http://schemas.openxmlformats.org/officeDocument/2006/relationships/tags" Target="../tags/tag25.xml"/><Relationship Id="rId28" Type="http://schemas.openxmlformats.org/officeDocument/2006/relationships/tags" Target="../tags/tag24.xml"/><Relationship Id="rId27" Type="http://schemas.openxmlformats.org/officeDocument/2006/relationships/image" Target="../media/image10.png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image" Target="../media/image9.png"/><Relationship Id="rId2" Type="http://schemas.openxmlformats.org/officeDocument/2006/relationships/tags" Target="../tags/tag2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image" Target="../media/image3.png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image" Target="../media/image14.png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image" Target="../media/image15.png"/><Relationship Id="rId1" Type="http://schemas.openxmlformats.org/officeDocument/2006/relationships/tags" Target="../tags/tag37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3.png"/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9.png"/><Relationship Id="rId7" Type="http://schemas.openxmlformats.org/officeDocument/2006/relationships/image" Target="../media/image10.png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3.png"/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image" Target="../media/image4.png"/><Relationship Id="rId32" Type="http://schemas.openxmlformats.org/officeDocument/2006/relationships/notesSlide" Target="../notesSlides/notesSlide11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73.xml"/><Relationship Id="rId3" Type="http://schemas.openxmlformats.org/officeDocument/2006/relationships/tags" Target="../tags/tag49.xml"/><Relationship Id="rId29" Type="http://schemas.openxmlformats.org/officeDocument/2006/relationships/tags" Target="../tags/tag72.xml"/><Relationship Id="rId28" Type="http://schemas.openxmlformats.org/officeDocument/2006/relationships/tags" Target="../tags/tag71.xml"/><Relationship Id="rId27" Type="http://schemas.openxmlformats.org/officeDocument/2006/relationships/tags" Target="../tags/tag70.xml"/><Relationship Id="rId26" Type="http://schemas.openxmlformats.org/officeDocument/2006/relationships/tags" Target="../tags/tag69.xml"/><Relationship Id="rId25" Type="http://schemas.openxmlformats.org/officeDocument/2006/relationships/tags" Target="../tags/tag68.xml"/><Relationship Id="rId24" Type="http://schemas.openxmlformats.org/officeDocument/2006/relationships/image" Target="../media/image20.png"/><Relationship Id="rId23" Type="http://schemas.openxmlformats.org/officeDocument/2006/relationships/tags" Target="../tags/tag67.xml"/><Relationship Id="rId22" Type="http://schemas.openxmlformats.org/officeDocument/2006/relationships/tags" Target="../tags/tag66.xml"/><Relationship Id="rId21" Type="http://schemas.openxmlformats.org/officeDocument/2006/relationships/tags" Target="../tags/tag65.xml"/><Relationship Id="rId20" Type="http://schemas.openxmlformats.org/officeDocument/2006/relationships/tags" Target="../tags/tag64.xml"/><Relationship Id="rId2" Type="http://schemas.openxmlformats.org/officeDocument/2006/relationships/tags" Target="../tags/tag48.xml"/><Relationship Id="rId19" Type="http://schemas.openxmlformats.org/officeDocument/2006/relationships/tags" Target="../tags/tag63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image" Target="../media/image9.png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tags" Target="../tags/tag4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image" Target="../media/image22.png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image" Target="../media/image21.png"/><Relationship Id="rId22" Type="http://schemas.openxmlformats.org/officeDocument/2006/relationships/notesSlide" Target="../notesSlides/notesSlide12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89.xml"/><Relationship Id="rId2" Type="http://schemas.openxmlformats.org/officeDocument/2006/relationships/tags" Target="../tags/tag75.xml"/><Relationship Id="rId19" Type="http://schemas.openxmlformats.org/officeDocument/2006/relationships/tags" Target="../tags/tag88.xml"/><Relationship Id="rId18" Type="http://schemas.openxmlformats.org/officeDocument/2006/relationships/image" Target="../media/image23.png"/><Relationship Id="rId17" Type="http://schemas.openxmlformats.org/officeDocument/2006/relationships/tags" Target="../tags/tag87.xml"/><Relationship Id="rId16" Type="http://schemas.openxmlformats.org/officeDocument/2006/relationships/tags" Target="../tags/tag86.xml"/><Relationship Id="rId15" Type="http://schemas.openxmlformats.org/officeDocument/2006/relationships/tags" Target="../tags/tag85.xml"/><Relationship Id="rId14" Type="http://schemas.openxmlformats.org/officeDocument/2006/relationships/tags" Target="../tags/tag84.xml"/><Relationship Id="rId13" Type="http://schemas.openxmlformats.org/officeDocument/2006/relationships/image" Target="../media/image8.png"/><Relationship Id="rId12" Type="http://schemas.openxmlformats.org/officeDocument/2006/relationships/tags" Target="../tags/tag83.xml"/><Relationship Id="rId11" Type="http://schemas.openxmlformats.org/officeDocument/2006/relationships/tags" Target="../tags/tag82.xml"/><Relationship Id="rId10" Type="http://schemas.openxmlformats.org/officeDocument/2006/relationships/tags" Target="../tags/tag81.xml"/><Relationship Id="rId1" Type="http://schemas.openxmlformats.org/officeDocument/2006/relationships/tags" Target="../tags/tag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669280" cy="5669280"/>
          </a:xfrm>
          <a:prstGeom prst="ellipse">
            <a:avLst/>
          </a:prstGeom>
          <a:solidFill>
            <a:srgbClr val="2E7D32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784080" y="-274320"/>
            <a:ext cx="3108960" cy="3108960"/>
          </a:xfrm>
          <a:prstGeom prst="ellipse">
            <a:avLst/>
          </a:prstGeom>
          <a:solidFill>
            <a:srgbClr val="D4A017">
              <a:alpha val="3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731520" y="1417320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C9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HUMAN–COMPUTER INTERACTION  •  MOBILE APP TERM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98755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Campus Navigator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13232" y="2788920"/>
            <a:ext cx="9875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Mobile Application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78638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CEB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mobile wayfinding experience helping students, staff and visitors find buildings, offices, and services across campus, quickly and confidently.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5074920"/>
            <a:ext cx="2331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2C9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TOOL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5349240"/>
            <a:ext cx="2331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Balsamiq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46120" y="5074920"/>
            <a:ext cx="2331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2C9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COLLABORATION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46120" y="5349240"/>
            <a:ext cx="2331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0" y="5074920"/>
            <a:ext cx="2331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2C9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PLATFORM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0" y="5349240"/>
            <a:ext cx="2331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 / Smartphone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75320" y="5074920"/>
            <a:ext cx="2331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2C9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75320" y="5349240"/>
            <a:ext cx="2331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Weeks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966960" y="4160520"/>
            <a:ext cx="1554480" cy="1554480"/>
          </a:xfrm>
          <a:prstGeom prst="ellipse">
            <a:avLst/>
          </a:prstGeom>
          <a:solidFill>
            <a:srgbClr val="D4A017"/>
          </a:solidFill>
        </p:spPr>
      </p:sp>
      <p:pic>
        <p:nvPicPr>
          <p:cNvPr id="17" name="Image 0" descr="/home/claude/campus_nav/icons/compas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6718" y="4510278"/>
            <a:ext cx="854964" cy="85496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0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30936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University campuses are large, dense, and often confusing, sprawling blocks of lecture halls, laboratories, offices, and services that are hard to navigate, especially for new students, staff and first-time visitors. The Campus Navigator mobile app is designed to solve this by putting a simple, searchable campus map and direction finder directly into users' pockets.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630936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through a full Human Computer Interaction design cycle, research, wireframing in Balsamiq, prototyping and usability testing, the app focuses on clarity, touch friendly interaction and accessible, location oriented design.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0" y="1691640"/>
            <a:ext cx="4297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1E8DD"/>
            </a:solidFill>
            <a:prstDash val="solid"/>
          </a:ln>
          <a:effectLst>
            <a:outerShdw blurRad="76200" dist="25400" dir="5400000" algn="bl" rotWithShape="0">
              <a:srgbClr val="1B5E2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43800" y="1897380"/>
            <a:ext cx="640080" cy="640080"/>
          </a:xfrm>
          <a:prstGeom prst="ellipse">
            <a:avLst/>
          </a:prstGeom>
          <a:solidFill>
            <a:srgbClr val="1B5E20"/>
          </a:solidFill>
        </p:spPr>
      </p:sp>
      <p:pic>
        <p:nvPicPr>
          <p:cNvPr id="8" name="Image 0" descr="/home/claude/campus_nav/icons/sear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7818" y="2041398"/>
            <a:ext cx="352044" cy="3520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66760" y="1691640"/>
            <a:ext cx="31089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buildings &amp; offices instantly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315200" y="2990088"/>
            <a:ext cx="4297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1E8DD"/>
            </a:solidFill>
            <a:prstDash val="solid"/>
          </a:ln>
          <a:effectLst>
            <a:outerShdw blurRad="76200" dist="25400" dir="5400000" algn="bl" rotWithShape="0">
              <a:srgbClr val="1B5E2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543800" y="3195828"/>
            <a:ext cx="640080" cy="640080"/>
          </a:xfrm>
          <a:prstGeom prst="ellipse">
            <a:avLst/>
          </a:prstGeom>
          <a:solidFill>
            <a:srgbClr val="1B5E20"/>
          </a:solidFill>
        </p:spPr>
      </p:sp>
      <p:pic>
        <p:nvPicPr>
          <p:cNvPr id="12" name="Image 1" descr="/home/claude/campus_nav/icons/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7818" y="3339846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366760" y="2990088"/>
            <a:ext cx="31089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Simple, guided walking directions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315200" y="4288536"/>
            <a:ext cx="4297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1E8DD"/>
            </a:solidFill>
            <a:prstDash val="solid"/>
          </a:ln>
          <a:effectLst>
            <a:outerShdw blurRad="76200" dist="25400" dir="5400000" algn="bl" rotWithShape="0">
              <a:srgbClr val="1B5E2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543800" y="4494276"/>
            <a:ext cx="640080" cy="640080"/>
          </a:xfrm>
          <a:prstGeom prst="ellipse">
            <a:avLst/>
          </a:prstGeom>
          <a:solidFill>
            <a:srgbClr val="1B5E20"/>
          </a:solidFill>
        </p:spPr>
      </p:sp>
      <p:pic>
        <p:nvPicPr>
          <p:cNvPr id="16" name="Image 2" descr="/home/claude/campus_nav/icons/book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7818" y="4638294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4288536"/>
            <a:ext cx="31089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 frequently visited locations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0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semester, students, staff, and visitors lose valuable time and patience, trying to locate rooms and services across sprawling campuses with inconsistent signage.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8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770632"/>
            <a:ext cx="685800" cy="685800"/>
          </a:xfrm>
          <a:prstGeom prst="ellipse">
            <a:avLst/>
          </a:prstGeom>
          <a:solidFill>
            <a:srgbClr val="D4A017"/>
          </a:solidFill>
        </p:spPr>
      </p:sp>
      <p:pic>
        <p:nvPicPr>
          <p:cNvPr id="7" name="Image 0" descr="/home/claude/campus_nav/icons/war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977" y="2924937"/>
            <a:ext cx="377190" cy="3771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743200"/>
            <a:ext cx="3977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Getting Lost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91640" y="3136392"/>
            <a:ext cx="39776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students and visitors frequently struggle to locate lecture halls, labs, and offices on their first visit.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251460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8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28232" y="2770632"/>
            <a:ext cx="685800" cy="685800"/>
          </a:xfrm>
          <a:prstGeom prst="ellipse">
            <a:avLst/>
          </a:prstGeom>
          <a:solidFill>
            <a:srgbClr val="D4A017"/>
          </a:solidFill>
        </p:spPr>
      </p:sp>
      <p:pic>
        <p:nvPicPr>
          <p:cNvPr id="12" name="Image 1" descr="/home/claude/campus_nav/icons/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537" y="2924937"/>
            <a:ext cx="377190" cy="3771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2743200"/>
            <a:ext cx="3977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Wasted Time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315200" y="3136392"/>
            <a:ext cx="39776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Poor wayfinding leads to late arrivals to classes, meetings, and appointments across campus.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57200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8D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4672" y="4828032"/>
            <a:ext cx="685800" cy="685800"/>
          </a:xfrm>
          <a:prstGeom prst="ellipse">
            <a:avLst/>
          </a:prstGeom>
          <a:solidFill>
            <a:srgbClr val="D4A017"/>
          </a:solidFill>
        </p:spPr>
      </p:sp>
      <p:pic>
        <p:nvPicPr>
          <p:cNvPr id="17" name="Image 2" descr="/home/claude/campus_nav/icons/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977" y="4982337"/>
            <a:ext cx="377190" cy="3771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800600"/>
            <a:ext cx="3977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 Central Tool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691640" y="5193792"/>
            <a:ext cx="39776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There is no single, reliable digital tool showing accurate campus layouts and services.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172200" y="457200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8D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28232" y="4828032"/>
            <a:ext cx="685800" cy="685800"/>
          </a:xfrm>
          <a:prstGeom prst="ellipse">
            <a:avLst/>
          </a:prstGeom>
          <a:solidFill>
            <a:srgbClr val="D4A017"/>
          </a:solidFill>
        </p:spPr>
      </p:sp>
      <p:pic>
        <p:nvPicPr>
          <p:cNvPr id="22" name="Image 3" descr="/home/claude/campus_nav/icons/acc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537" y="4982337"/>
            <a:ext cx="377190" cy="37719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0" y="4800600"/>
            <a:ext cx="3977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Accessibility Gaps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315200" y="5193792"/>
            <a:ext cx="39776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 maps and signage are not accessible or convenient for users with mobility needs.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AIM TO ACHIEVE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0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48640" y="1691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8DD"/>
            </a:solidFill>
            <a:prstDash val="solid"/>
          </a:ln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749808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5E20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749808" y="18745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3200400" y="1874520"/>
            <a:ext cx="457200" cy="457200"/>
          </a:xfrm>
          <a:prstGeom prst="ellipse">
            <a:avLst/>
          </a:prstGeom>
          <a:solidFill>
            <a:srgbClr val="D4A017"/>
          </a:solidFill>
        </p:spPr>
      </p:sp>
      <p:pic>
        <p:nvPicPr>
          <p:cNvPr id="8" name="Image 0" descr="/home/claude/campus_nav/icons/search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303270" y="1977390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749808" y="2468880"/>
            <a:ext cx="31089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Enable fast search of buildings, offices, and rooms by name or keyword.</a:t>
            </a:r>
            <a:endParaRPr lang="en-US" sz="1250" dirty="0"/>
          </a:p>
        </p:txBody>
      </p:sp>
      <p:sp>
        <p:nvSpPr>
          <p:cNvPr id="10" name="Shape 7"/>
          <p:cNvSpPr/>
          <p:nvPr>
            <p:custDataLst>
              <p:tags r:id="rId8"/>
            </p:custDataLst>
          </p:nvPr>
        </p:nvSpPr>
        <p:spPr>
          <a:xfrm>
            <a:off x="4297680" y="1691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8DD"/>
            </a:solidFill>
            <a:prstDash val="solid"/>
          </a:ln>
        </p:spPr>
      </p:sp>
      <p:sp>
        <p:nvSpPr>
          <p:cNvPr id="11" name="Shape 8"/>
          <p:cNvSpPr/>
          <p:nvPr>
            <p:custDataLst>
              <p:tags r:id="rId9"/>
            </p:custDataLst>
          </p:nvPr>
        </p:nvSpPr>
        <p:spPr>
          <a:xfrm>
            <a:off x="4498848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5E20"/>
          </a:solidFill>
        </p:spPr>
      </p:sp>
      <p:sp>
        <p:nvSpPr>
          <p:cNvPr id="12" name="Text 9"/>
          <p:cNvSpPr/>
          <p:nvPr>
            <p:custDataLst>
              <p:tags r:id="rId10"/>
            </p:custDataLst>
          </p:nvPr>
        </p:nvSpPr>
        <p:spPr>
          <a:xfrm>
            <a:off x="4498848" y="18745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0"/>
          <p:cNvSpPr/>
          <p:nvPr>
            <p:custDataLst>
              <p:tags r:id="rId11"/>
            </p:custDataLst>
          </p:nvPr>
        </p:nvSpPr>
        <p:spPr>
          <a:xfrm>
            <a:off x="6949440" y="1874520"/>
            <a:ext cx="457200" cy="457200"/>
          </a:xfrm>
          <a:prstGeom prst="ellipse">
            <a:avLst/>
          </a:prstGeom>
          <a:solidFill>
            <a:srgbClr val="D4A017"/>
          </a:solidFill>
        </p:spPr>
      </p:sp>
      <p:pic>
        <p:nvPicPr>
          <p:cNvPr id="14" name="Image 1" descr="/home/claude/campus_nav/icons/route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7052310" y="1977390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/>
          <p:nvPr>
            <p:custDataLst>
              <p:tags r:id="rId14"/>
            </p:custDataLst>
          </p:nvPr>
        </p:nvSpPr>
        <p:spPr>
          <a:xfrm>
            <a:off x="4498848" y="2468880"/>
            <a:ext cx="31089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 simple, easy to follow directions from a user's current location.</a:t>
            </a:r>
            <a:endParaRPr lang="en-US" sz="1250" dirty="0"/>
          </a:p>
        </p:txBody>
      </p:sp>
      <p:sp>
        <p:nvSpPr>
          <p:cNvPr id="16" name="Shape 12"/>
          <p:cNvSpPr/>
          <p:nvPr>
            <p:custDataLst>
              <p:tags r:id="rId15"/>
            </p:custDataLst>
          </p:nvPr>
        </p:nvSpPr>
        <p:spPr>
          <a:xfrm>
            <a:off x="8046720" y="1691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8DD"/>
            </a:solidFill>
            <a:prstDash val="solid"/>
          </a:ln>
        </p:spPr>
      </p:sp>
      <p:sp>
        <p:nvSpPr>
          <p:cNvPr id="17" name="Shape 13"/>
          <p:cNvSpPr/>
          <p:nvPr>
            <p:custDataLst>
              <p:tags r:id="rId16"/>
            </p:custDataLst>
          </p:nvPr>
        </p:nvSpPr>
        <p:spPr>
          <a:xfrm>
            <a:off x="8247888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5E20"/>
          </a:solidFill>
        </p:spPr>
      </p:sp>
      <p:sp>
        <p:nvSpPr>
          <p:cNvPr id="18" name="Text 14"/>
          <p:cNvSpPr/>
          <p:nvPr>
            <p:custDataLst>
              <p:tags r:id="rId17"/>
            </p:custDataLst>
          </p:nvPr>
        </p:nvSpPr>
        <p:spPr>
          <a:xfrm>
            <a:off x="8247888" y="18745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5"/>
          <p:cNvSpPr/>
          <p:nvPr>
            <p:custDataLst>
              <p:tags r:id="rId18"/>
            </p:custDataLst>
          </p:nvPr>
        </p:nvSpPr>
        <p:spPr>
          <a:xfrm>
            <a:off x="10698480" y="1874520"/>
            <a:ext cx="457200" cy="457200"/>
          </a:xfrm>
          <a:prstGeom prst="ellipse">
            <a:avLst/>
          </a:prstGeom>
          <a:solidFill>
            <a:srgbClr val="D4A017"/>
          </a:solidFill>
        </p:spPr>
      </p:sp>
      <p:pic>
        <p:nvPicPr>
          <p:cNvPr id="20" name="Image 2" descr="/home/claude/campus_nav/icons/flask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10801350" y="1977390"/>
            <a:ext cx="251460" cy="251460"/>
          </a:xfrm>
          <a:prstGeom prst="rect">
            <a:avLst/>
          </a:prstGeom>
        </p:spPr>
      </p:pic>
      <p:sp>
        <p:nvSpPr>
          <p:cNvPr id="21" name="Text 16"/>
          <p:cNvSpPr/>
          <p:nvPr>
            <p:custDataLst>
              <p:tags r:id="rId21"/>
            </p:custDataLst>
          </p:nvPr>
        </p:nvSpPr>
        <p:spPr>
          <a:xfrm>
            <a:off x="8247888" y="2468880"/>
            <a:ext cx="31089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Help users precisely locate lecture halls and laboratories for classes.</a:t>
            </a:r>
            <a:endParaRPr lang="en-US" sz="1250" dirty="0"/>
          </a:p>
        </p:txBody>
      </p:sp>
      <p:sp>
        <p:nvSpPr>
          <p:cNvPr id="22" name="Shape 17"/>
          <p:cNvSpPr/>
          <p:nvPr>
            <p:custDataLst>
              <p:tags r:id="rId22"/>
            </p:custDataLst>
          </p:nvPr>
        </p:nvSpPr>
        <p:spPr>
          <a:xfrm>
            <a:off x="548640" y="3867912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8DD"/>
            </a:solidFill>
            <a:prstDash val="solid"/>
          </a:ln>
        </p:spPr>
      </p:sp>
      <p:sp>
        <p:nvSpPr>
          <p:cNvPr id="23" name="Shape 18"/>
          <p:cNvSpPr/>
          <p:nvPr>
            <p:custDataLst>
              <p:tags r:id="rId23"/>
            </p:custDataLst>
          </p:nvPr>
        </p:nvSpPr>
        <p:spPr>
          <a:xfrm>
            <a:off x="749808" y="40507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5E20"/>
          </a:solidFill>
        </p:spPr>
      </p:sp>
      <p:sp>
        <p:nvSpPr>
          <p:cNvPr id="24" name="Text 19"/>
          <p:cNvSpPr/>
          <p:nvPr>
            <p:custDataLst>
              <p:tags r:id="rId24"/>
            </p:custDataLst>
          </p:nvPr>
        </p:nvSpPr>
        <p:spPr>
          <a:xfrm>
            <a:off x="749808" y="4050792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20"/>
          <p:cNvSpPr/>
          <p:nvPr>
            <p:custDataLst>
              <p:tags r:id="rId25"/>
            </p:custDataLst>
          </p:nvPr>
        </p:nvSpPr>
        <p:spPr>
          <a:xfrm>
            <a:off x="3200400" y="4050792"/>
            <a:ext cx="457200" cy="457200"/>
          </a:xfrm>
          <a:prstGeom prst="ellipse">
            <a:avLst/>
          </a:prstGeom>
          <a:solidFill>
            <a:srgbClr val="D4A017"/>
          </a:solidFill>
        </p:spPr>
      </p:sp>
      <p:pic>
        <p:nvPicPr>
          <p:cNvPr id="26" name="Image 3" descr="/home/claude/campus_nav/icons/building.png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3303270" y="4153662"/>
            <a:ext cx="251460" cy="251460"/>
          </a:xfrm>
          <a:prstGeom prst="rect">
            <a:avLst/>
          </a:prstGeom>
        </p:spPr>
      </p:pic>
      <p:sp>
        <p:nvSpPr>
          <p:cNvPr id="27" name="Text 21"/>
          <p:cNvSpPr/>
          <p:nvPr>
            <p:custDataLst>
              <p:tags r:id="rId28"/>
            </p:custDataLst>
          </p:nvPr>
        </p:nvSpPr>
        <p:spPr>
          <a:xfrm>
            <a:off x="749808" y="4645152"/>
            <a:ext cx="31089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Surface key university services (registrar, health center, library, etc.).</a:t>
            </a:r>
            <a:endParaRPr lang="en-US" sz="1250" dirty="0"/>
          </a:p>
        </p:txBody>
      </p:sp>
      <p:sp>
        <p:nvSpPr>
          <p:cNvPr id="28" name="Shape 22"/>
          <p:cNvSpPr/>
          <p:nvPr>
            <p:custDataLst>
              <p:tags r:id="rId29"/>
            </p:custDataLst>
          </p:nvPr>
        </p:nvSpPr>
        <p:spPr>
          <a:xfrm>
            <a:off x="4297680" y="3867912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8DD"/>
            </a:solidFill>
            <a:prstDash val="solid"/>
          </a:ln>
        </p:spPr>
      </p:sp>
      <p:sp>
        <p:nvSpPr>
          <p:cNvPr id="29" name="Shape 23"/>
          <p:cNvSpPr/>
          <p:nvPr>
            <p:custDataLst>
              <p:tags r:id="rId30"/>
            </p:custDataLst>
          </p:nvPr>
        </p:nvSpPr>
        <p:spPr>
          <a:xfrm>
            <a:off x="4498848" y="40507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5E20"/>
          </a:solidFill>
        </p:spPr>
      </p:sp>
      <p:sp>
        <p:nvSpPr>
          <p:cNvPr id="30" name="Text 24"/>
          <p:cNvSpPr/>
          <p:nvPr>
            <p:custDataLst>
              <p:tags r:id="rId31"/>
            </p:custDataLst>
          </p:nvPr>
        </p:nvSpPr>
        <p:spPr>
          <a:xfrm>
            <a:off x="4498848" y="4050792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Shape 25"/>
          <p:cNvSpPr/>
          <p:nvPr>
            <p:custDataLst>
              <p:tags r:id="rId32"/>
            </p:custDataLst>
          </p:nvPr>
        </p:nvSpPr>
        <p:spPr>
          <a:xfrm>
            <a:off x="6949440" y="4050792"/>
            <a:ext cx="457200" cy="457200"/>
          </a:xfrm>
          <a:prstGeom prst="ellipse">
            <a:avLst/>
          </a:prstGeom>
          <a:solidFill>
            <a:srgbClr val="D4A017"/>
          </a:solidFill>
        </p:spPr>
      </p:sp>
      <p:pic>
        <p:nvPicPr>
          <p:cNvPr id="32" name="Image 4" descr="/home/claude/campus_nav/icons/bookmark.png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7052310" y="4153662"/>
            <a:ext cx="251460" cy="251460"/>
          </a:xfrm>
          <a:prstGeom prst="rect">
            <a:avLst/>
          </a:prstGeom>
        </p:spPr>
      </p:pic>
      <p:sp>
        <p:nvSpPr>
          <p:cNvPr id="33" name="Text 26"/>
          <p:cNvSpPr/>
          <p:nvPr>
            <p:custDataLst>
              <p:tags r:id="rId35"/>
            </p:custDataLst>
          </p:nvPr>
        </p:nvSpPr>
        <p:spPr>
          <a:xfrm>
            <a:off x="4498848" y="4645152"/>
            <a:ext cx="31089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Allow users to save and revisit frequently visited campus locations.</a:t>
            </a:r>
            <a:endParaRPr lang="en-US" sz="1250" dirty="0"/>
          </a:p>
        </p:txBody>
      </p:sp>
      <p:sp>
        <p:nvSpPr>
          <p:cNvPr id="34" name="Shape 27"/>
          <p:cNvSpPr/>
          <p:nvPr>
            <p:custDataLst>
              <p:tags r:id="rId36"/>
            </p:custDataLst>
          </p:nvPr>
        </p:nvSpPr>
        <p:spPr>
          <a:xfrm>
            <a:off x="8046720" y="3867912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8DD"/>
            </a:solidFill>
            <a:prstDash val="solid"/>
          </a:ln>
        </p:spPr>
      </p:sp>
      <p:sp>
        <p:nvSpPr>
          <p:cNvPr id="35" name="Shape 28"/>
          <p:cNvSpPr/>
          <p:nvPr>
            <p:custDataLst>
              <p:tags r:id="rId37"/>
            </p:custDataLst>
          </p:nvPr>
        </p:nvSpPr>
        <p:spPr>
          <a:xfrm>
            <a:off x="8247888" y="40507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5E20"/>
          </a:solidFill>
        </p:spPr>
      </p:sp>
      <p:sp>
        <p:nvSpPr>
          <p:cNvPr id="36" name="Text 29"/>
          <p:cNvSpPr/>
          <p:nvPr>
            <p:custDataLst>
              <p:tags r:id="rId38"/>
            </p:custDataLst>
          </p:nvPr>
        </p:nvSpPr>
        <p:spPr>
          <a:xfrm>
            <a:off x="8247888" y="4050792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Shape 30"/>
          <p:cNvSpPr/>
          <p:nvPr>
            <p:custDataLst>
              <p:tags r:id="rId39"/>
            </p:custDataLst>
          </p:nvPr>
        </p:nvSpPr>
        <p:spPr>
          <a:xfrm>
            <a:off x="10698480" y="4050792"/>
            <a:ext cx="457200" cy="457200"/>
          </a:xfrm>
          <a:prstGeom prst="ellipse">
            <a:avLst/>
          </a:prstGeom>
          <a:solidFill>
            <a:srgbClr val="D4A017"/>
          </a:solidFill>
        </p:spPr>
      </p:sp>
      <p:pic>
        <p:nvPicPr>
          <p:cNvPr id="38" name="Image 5" descr="/home/claude/campus_nav/icons/access.png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/>
          <a:stretch>
            <a:fillRect/>
          </a:stretch>
        </p:blipFill>
        <p:spPr>
          <a:xfrm>
            <a:off x="10801350" y="4153662"/>
            <a:ext cx="251460" cy="251460"/>
          </a:xfrm>
          <a:prstGeom prst="rect">
            <a:avLst/>
          </a:prstGeom>
        </p:spPr>
      </p:pic>
      <p:sp>
        <p:nvSpPr>
          <p:cNvPr id="39" name="Text 31"/>
          <p:cNvSpPr/>
          <p:nvPr>
            <p:custDataLst>
              <p:tags r:id="rId42"/>
            </p:custDataLst>
          </p:nvPr>
        </p:nvSpPr>
        <p:spPr>
          <a:xfrm>
            <a:off x="8247888" y="4645152"/>
            <a:ext cx="31089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an accessible, touch friendly mobile interface for all users.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WE'RE DESIGNING FOR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0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Target Users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1B5E20"/>
          </a:solidFill>
        </p:spPr>
      </p:sp>
      <p:sp>
        <p:nvSpPr>
          <p:cNvPr id="5" name="Shape 3"/>
          <p:cNvSpPr/>
          <p:nvPr/>
        </p:nvSpPr>
        <p:spPr>
          <a:xfrm>
            <a:off x="548640" y="173736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0F3D13">
              <a:alpha val="55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1714500" y="2057400"/>
            <a:ext cx="1188720" cy="1188720"/>
          </a:xfrm>
          <a:prstGeom prst="ellipse">
            <a:avLst/>
          </a:prstGeom>
          <a:solidFill>
            <a:srgbClr val="D4A017"/>
          </a:solidFill>
        </p:spPr>
      </p:sp>
      <p:pic>
        <p:nvPicPr>
          <p:cNvPr id="7" name="Image 0" descr="/home/claude/campus_nav/icons/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962" y="2324862"/>
            <a:ext cx="653796" cy="6537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429000"/>
            <a:ext cx="3063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Students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8680" y="3977640"/>
            <a:ext cx="288036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EAF3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Undergraduate and graduate students navigating to classes, labs, and study spaces, often under time pressure between lectures.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173736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1B5E20"/>
          </a:solidFill>
        </p:spPr>
      </p:sp>
      <p:sp>
        <p:nvSpPr>
          <p:cNvPr id="11" name="Shape 8"/>
          <p:cNvSpPr/>
          <p:nvPr/>
        </p:nvSpPr>
        <p:spPr>
          <a:xfrm>
            <a:off x="4343400" y="173736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0F3D13">
              <a:alpha val="55000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5509260" y="2057400"/>
            <a:ext cx="1188720" cy="1188720"/>
          </a:xfrm>
          <a:prstGeom prst="ellipse">
            <a:avLst/>
          </a:prstGeom>
          <a:solidFill>
            <a:srgbClr val="D4A017"/>
          </a:solidFill>
        </p:spPr>
      </p:sp>
      <p:pic>
        <p:nvPicPr>
          <p:cNvPr id="13" name="Image 1" descr="/home/claude/campus_nav/icons/t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6722" y="2324862"/>
            <a:ext cx="653796" cy="6537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3429000"/>
            <a:ext cx="3063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Staff &amp; Faculty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663440" y="3977640"/>
            <a:ext cx="288036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EAF3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Lecturers, administrators and support staff moving between offices, meeting rooms, and departments across campus.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38160" y="173736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1B5E20"/>
          </a:solidFill>
        </p:spPr>
      </p:sp>
      <p:sp>
        <p:nvSpPr>
          <p:cNvPr id="17" name="Shape 13"/>
          <p:cNvSpPr/>
          <p:nvPr/>
        </p:nvSpPr>
        <p:spPr>
          <a:xfrm>
            <a:off x="8138160" y="173736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0F3D13">
              <a:alpha val="55000"/>
            </a:srgbClr>
          </a:solidFill>
        </p:spPr>
      </p:sp>
      <p:sp>
        <p:nvSpPr>
          <p:cNvPr id="18" name="Shape 14"/>
          <p:cNvSpPr/>
          <p:nvPr/>
        </p:nvSpPr>
        <p:spPr>
          <a:xfrm>
            <a:off x="9304020" y="2057400"/>
            <a:ext cx="1188720" cy="1188720"/>
          </a:xfrm>
          <a:prstGeom prst="ellipse">
            <a:avLst/>
          </a:prstGeom>
          <a:solidFill>
            <a:srgbClr val="D4A017"/>
          </a:solidFill>
        </p:spPr>
      </p:sp>
      <p:pic>
        <p:nvPicPr>
          <p:cNvPr id="19" name="Image 2" descr="/home/claude/campus_nav/icons/fri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1482" y="2324862"/>
            <a:ext cx="653796" cy="6537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66760" y="3429000"/>
            <a:ext cx="3063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Visitors &amp; Guests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8458200" y="3977640"/>
            <a:ext cx="288036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EAF3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Prospective students, parents and guests unfamiliar with the campus layout who need clear, simple guidance.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GETTING TO KNOW OUR USERS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0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User Personas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1E8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11680"/>
            <a:ext cx="960120" cy="960120"/>
          </a:xfrm>
          <a:prstGeom prst="ellipse">
            <a:avLst/>
          </a:prstGeom>
          <a:solidFill>
            <a:srgbClr val="1B5E20"/>
          </a:solidFill>
        </p:spPr>
      </p:sp>
      <p:pic>
        <p:nvPicPr>
          <p:cNvPr id="6" name="Image 0" descr="/home/claude/campus_nav/icons/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707" y="2227707"/>
            <a:ext cx="528066" cy="5280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011680"/>
            <a:ext cx="3703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30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Amina, 19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965960" y="2404872"/>
            <a:ext cx="3703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FIRST-YEAR STUDENT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68680" y="3154680"/>
            <a:ext cx="4709160" cy="914400"/>
          </a:xfrm>
          <a:prstGeom prst="roundRect">
            <a:avLst>
              <a:gd name="adj" fmla="val 8000"/>
            </a:avLst>
          </a:prstGeom>
          <a:solidFill>
            <a:srgbClr val="F4F8F2"/>
          </a:solidFill>
        </p:spPr>
      </p:sp>
      <p:sp>
        <p:nvSpPr>
          <p:cNvPr id="10" name="Text 7"/>
          <p:cNvSpPr/>
          <p:nvPr/>
        </p:nvSpPr>
        <p:spPr>
          <a:xfrm>
            <a:off x="1051560" y="3154680"/>
            <a:ext cx="4343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“I have four minutes to get across campus and I have no idea where Lab 3B is.”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425196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4553712"/>
            <a:ext cx="47091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lecture halls &amp; labs fast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simple walking directions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 her regular class routes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34924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1E8D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92240" y="2011680"/>
            <a:ext cx="960120" cy="960120"/>
          </a:xfrm>
          <a:prstGeom prst="ellipse">
            <a:avLst/>
          </a:prstGeom>
          <a:solidFill>
            <a:srgbClr val="1B5E20"/>
          </a:solidFill>
        </p:spPr>
      </p:sp>
      <p:pic>
        <p:nvPicPr>
          <p:cNvPr id="15" name="Image 1" descr="/home/claude/campus_nav/icons/fri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267" y="2227707"/>
            <a:ext cx="528066" cy="52806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589520" y="2011680"/>
            <a:ext cx="3703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30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Mr. Otieno, 47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589520" y="2404872"/>
            <a:ext cx="3703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PROSPECTIVE PARENT / VISITOR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92240" y="3154680"/>
            <a:ext cx="4709160" cy="914400"/>
          </a:xfrm>
          <a:prstGeom prst="roundRect">
            <a:avLst>
              <a:gd name="adj" fmla="val 8000"/>
            </a:avLst>
          </a:prstGeom>
          <a:solidFill>
            <a:srgbClr val="F4F8F2"/>
          </a:solidFill>
        </p:spPr>
      </p:sp>
      <p:sp>
        <p:nvSpPr>
          <p:cNvPr id="19" name="Text 15"/>
          <p:cNvSpPr/>
          <p:nvPr/>
        </p:nvSpPr>
        <p:spPr>
          <a:xfrm>
            <a:off x="6675120" y="3154680"/>
            <a:ext cx="4343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“I just want to find the admissions office without asking five different people.”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492240" y="425196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492240" y="4553712"/>
            <a:ext cx="47091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Locate key university services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 campus layout quickly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the app without prior training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APP MUST 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0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Requirements</a:t>
            </a:r>
            <a:endParaRPr lang="en-US" sz="32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48640" y="1691640"/>
            <a:ext cx="534924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1E8DD"/>
            </a:solidFill>
            <a:prstDash val="solid"/>
          </a:ln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1B5E20"/>
          </a:solidFill>
        </p:spPr>
      </p:sp>
      <p:pic>
        <p:nvPicPr>
          <p:cNvPr id="6" name="Image 0" descr="/home/claude/campus_nav/icons/cogs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46404" y="20436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1508760" y="1965960"/>
            <a:ext cx="4160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0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Functional Requirements</a:t>
            </a:r>
            <a:endParaRPr lang="en-US" sz="1700" dirty="0"/>
          </a:p>
        </p:txBody>
      </p:sp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868680" y="2606040"/>
            <a:ext cx="470916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for buildings, offices and rooms by keyword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 simple turn by turn or map-based directions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Locate lecture halls and laboratories precisely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 and locate university services (library, registrar)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 and manage frequently visited locations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Navigate at least 12 linked, meaningful mobile screens</a:t>
            </a:r>
            <a:endParaRPr lang="en-US" sz="1300" dirty="0"/>
          </a:p>
        </p:txBody>
      </p:sp>
      <p:sp>
        <p:nvSpPr>
          <p:cNvPr id="9" name="Shape 6"/>
          <p:cNvSpPr/>
          <p:nvPr>
            <p:custDataLst>
              <p:tags r:id="rId7"/>
            </p:custDataLst>
          </p:nvPr>
        </p:nvSpPr>
        <p:spPr>
          <a:xfrm>
            <a:off x="6172200" y="1691640"/>
            <a:ext cx="5349240" cy="4251960"/>
          </a:xfrm>
          <a:prstGeom prst="roundRect">
            <a:avLst>
              <a:gd name="adj" fmla="val 2581"/>
            </a:avLst>
          </a:prstGeom>
          <a:solidFill>
            <a:srgbClr val="1B5E20"/>
          </a:solidFill>
        </p:spPr>
      </p:sp>
      <p:sp>
        <p:nvSpPr>
          <p:cNvPr id="10" name="Shape 7"/>
          <p:cNvSpPr/>
          <p:nvPr>
            <p:custDataLst>
              <p:tags r:id="rId8"/>
            </p:custDataLst>
          </p:nvPr>
        </p:nvSpPr>
        <p:spPr>
          <a:xfrm>
            <a:off x="6446520" y="1920240"/>
            <a:ext cx="548640" cy="548640"/>
          </a:xfrm>
          <a:prstGeom prst="ellipse">
            <a:avLst/>
          </a:prstGeom>
          <a:solidFill>
            <a:srgbClr val="D4A017"/>
          </a:solidFill>
        </p:spPr>
      </p:sp>
      <p:pic>
        <p:nvPicPr>
          <p:cNvPr id="11" name="Image 1" descr="/home/claude/campus_nav/icons/shiel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569964" y="204368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>
            <p:custDataLst>
              <p:tags r:id="rId11"/>
            </p:custDataLst>
          </p:nvPr>
        </p:nvSpPr>
        <p:spPr>
          <a:xfrm>
            <a:off x="7132320" y="1965960"/>
            <a:ext cx="4160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Non-Functional Requirements</a:t>
            </a:r>
            <a:endParaRPr lang="en-US" sz="1700" dirty="0"/>
          </a:p>
        </p:txBody>
      </p:sp>
      <p:sp>
        <p:nvSpPr>
          <p:cNvPr id="13" name="Text 9"/>
          <p:cNvSpPr/>
          <p:nvPr>
            <p:custDataLst>
              <p:tags r:id="rId12"/>
            </p:custDataLst>
          </p:nvPr>
        </p:nvSpPr>
        <p:spPr>
          <a:xfrm>
            <a:off x="6492240" y="2606040"/>
            <a:ext cx="470916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1F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Touch friendly, mobile first navigation patterns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1F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Fast, responsive interactions (minimal taps to result)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1F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Accessible design for users with diverse needs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1F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Clear, consistent visual information architecture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1F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Reliable performance for on the go, one handed use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1F8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Intuitive interface requiring no prior training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A USER MOVES THROUGH THE APP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0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User Journey and Task 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Scenario: Finding a lecture hall and getting directions there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74420" y="3268980"/>
            <a:ext cx="10012680" cy="0"/>
          </a:xfrm>
          <a:prstGeom prst="line">
            <a:avLst/>
          </a:prstGeom>
          <a:noFill/>
          <a:ln w="31750">
            <a:solidFill>
              <a:srgbClr val="D4A017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48640" y="2743200"/>
            <a:ext cx="1051560" cy="1051560"/>
          </a:xfrm>
          <a:prstGeom prst="ellipse">
            <a:avLst/>
          </a:prstGeom>
          <a:solidFill>
            <a:srgbClr val="1B5E20"/>
          </a:solidFill>
        </p:spPr>
      </p:sp>
      <p:pic>
        <p:nvPicPr>
          <p:cNvPr id="7" name="Image 0" descr="/home/claude/campus_nav/icons/mobi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3006090"/>
            <a:ext cx="525780" cy="5257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46404" y="23774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4A017"/>
          </a:solidFill>
        </p:spPr>
      </p:sp>
      <p:sp>
        <p:nvSpPr>
          <p:cNvPr id="9" name="Text 6"/>
          <p:cNvSpPr/>
          <p:nvPr/>
        </p:nvSpPr>
        <p:spPr>
          <a:xfrm>
            <a:off x="946404" y="237744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3D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" y="3931920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30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Open App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-45720" y="4270248"/>
            <a:ext cx="22402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launches Campus Navigator from the home screen.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051810" y="2743200"/>
            <a:ext cx="1051560" cy="1051560"/>
          </a:xfrm>
          <a:prstGeom prst="ellipse">
            <a:avLst/>
          </a:prstGeom>
          <a:solidFill>
            <a:srgbClr val="2E7D32"/>
          </a:solidFill>
        </p:spPr>
      </p:sp>
      <p:pic>
        <p:nvPicPr>
          <p:cNvPr id="13" name="Image 1" descr="/home/claude/campus_nav/icons/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3006090"/>
            <a:ext cx="525780" cy="5257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449574" y="23774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4A017"/>
          </a:solidFill>
        </p:spPr>
      </p:sp>
      <p:sp>
        <p:nvSpPr>
          <p:cNvPr id="15" name="Text 11"/>
          <p:cNvSpPr/>
          <p:nvPr/>
        </p:nvSpPr>
        <p:spPr>
          <a:xfrm>
            <a:off x="3449574" y="237744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3D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548890" y="3931920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30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Search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2457450" y="4270248"/>
            <a:ext cx="22402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Types or selects the lecture hall / office they need.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554980" y="2743200"/>
            <a:ext cx="1051560" cy="1051560"/>
          </a:xfrm>
          <a:prstGeom prst="ellipse">
            <a:avLst/>
          </a:prstGeom>
          <a:solidFill>
            <a:srgbClr val="1B5E20"/>
          </a:solidFill>
        </p:spPr>
      </p:sp>
      <p:pic>
        <p:nvPicPr>
          <p:cNvPr id="19" name="Image 2" descr="/home/claude/campus_nav/icons/p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870" y="3006090"/>
            <a:ext cx="525780" cy="52578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952744" y="23774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4A017"/>
          </a:solidFill>
        </p:spPr>
      </p:sp>
      <p:sp>
        <p:nvSpPr>
          <p:cNvPr id="21" name="Text 16"/>
          <p:cNvSpPr/>
          <p:nvPr/>
        </p:nvSpPr>
        <p:spPr>
          <a:xfrm>
            <a:off x="5952744" y="237744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3D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052060" y="3931920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30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View Location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4960620" y="4270248"/>
            <a:ext cx="22402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Sees the building pinned on the campus map.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8058150" y="2743200"/>
            <a:ext cx="1051560" cy="1051560"/>
          </a:xfrm>
          <a:prstGeom prst="ellipse">
            <a:avLst/>
          </a:prstGeom>
          <a:solidFill>
            <a:srgbClr val="2E7D32"/>
          </a:solidFill>
        </p:spPr>
      </p:sp>
      <p:pic>
        <p:nvPicPr>
          <p:cNvPr id="25" name="Image 3" descr="/home/claude/campus_nav/icons/ro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3006090"/>
            <a:ext cx="525780" cy="52578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8455914" y="23774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4A017"/>
          </a:solidFill>
        </p:spPr>
      </p:sp>
      <p:sp>
        <p:nvSpPr>
          <p:cNvPr id="27" name="Text 21"/>
          <p:cNvSpPr/>
          <p:nvPr/>
        </p:nvSpPr>
        <p:spPr>
          <a:xfrm>
            <a:off x="8455914" y="237744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3D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7555230" y="3931920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30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Get Directions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7463790" y="4270248"/>
            <a:ext cx="22402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Reviews a simple walking route to the destination.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10561320" y="2743200"/>
            <a:ext cx="1051560" cy="1051560"/>
          </a:xfrm>
          <a:prstGeom prst="ellipse">
            <a:avLst/>
          </a:prstGeom>
          <a:solidFill>
            <a:srgbClr val="1B5E20"/>
          </a:solidFill>
        </p:spPr>
      </p:sp>
      <p:pic>
        <p:nvPicPr>
          <p:cNvPr id="31" name="Image 4" descr="/home/claude/campus_nav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4210" y="3006090"/>
            <a:ext cx="525780" cy="525780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10959084" y="23774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4A017"/>
          </a:solidFill>
        </p:spPr>
      </p:sp>
      <p:sp>
        <p:nvSpPr>
          <p:cNvPr id="33" name="Text 26"/>
          <p:cNvSpPr/>
          <p:nvPr/>
        </p:nvSpPr>
        <p:spPr>
          <a:xfrm>
            <a:off x="10959084" y="237744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3D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10058400" y="3931920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30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Arrive</a:t>
            </a:r>
            <a:endParaRPr lang="en-US" sz="1350" dirty="0"/>
          </a:p>
        </p:txBody>
      </p:sp>
      <p:sp>
        <p:nvSpPr>
          <p:cNvPr id="35" name="Text 28"/>
          <p:cNvSpPr/>
          <p:nvPr/>
        </p:nvSpPr>
        <p:spPr>
          <a:xfrm>
            <a:off x="9966960" y="4270248"/>
            <a:ext cx="22402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Reaches the destination and can save it for next time.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EAF3E8"/>
          </a:solidFill>
        </p:spPr>
      </p:sp>
      <p:sp>
        <p:nvSpPr>
          <p:cNvPr id="37" name="Text 30"/>
          <p:cNvSpPr/>
          <p:nvPr/>
        </p:nvSpPr>
        <p:spPr>
          <a:xfrm>
            <a:off x="777240" y="5623560"/>
            <a:ext cx="10607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F3D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Also supported: locating a laboratory for a scheduled class  •  finding the nearest university service (e.g., library, clinic)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PROTOTYPE WALKTHROUGH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Balsamiq Prototype Demonstration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3816" y="1874520"/>
            <a:ext cx="24688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2039112"/>
            <a:ext cx="2194560" cy="164592"/>
          </a:xfrm>
          <a:prstGeom prst="roundRect">
            <a:avLst>
              <a:gd name="adj" fmla="val 33333"/>
            </a:avLst>
          </a:prstGeom>
          <a:solidFill>
            <a:srgbClr val="E7ECE5"/>
          </a:solidFill>
        </p:spPr>
      </p:sp>
      <p:sp>
        <p:nvSpPr>
          <p:cNvPr id="7" name="Shape 5"/>
          <p:cNvSpPr/>
          <p:nvPr/>
        </p:nvSpPr>
        <p:spPr>
          <a:xfrm>
            <a:off x="1682496" y="2377440"/>
            <a:ext cx="731520" cy="731520"/>
          </a:xfrm>
          <a:prstGeom prst="ellipse">
            <a:avLst/>
          </a:prstGeom>
          <a:solidFill>
            <a:srgbClr val="1B5E20"/>
          </a:solidFill>
        </p:spPr>
      </p:sp>
      <p:pic>
        <p:nvPicPr>
          <p:cNvPr id="8" name="Image 0" descr="/home/claude/campus_nav/icons/mobi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7088" y="254203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23544" y="3246120"/>
            <a:ext cx="224942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 / Search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511296" y="1874520"/>
            <a:ext cx="24688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48456" y="2039112"/>
            <a:ext cx="2194560" cy="164592"/>
          </a:xfrm>
          <a:prstGeom prst="roundRect">
            <a:avLst>
              <a:gd name="adj" fmla="val 33333"/>
            </a:avLst>
          </a:prstGeom>
          <a:solidFill>
            <a:srgbClr val="E7ECE5"/>
          </a:solidFill>
        </p:spPr>
      </p:sp>
      <p:sp>
        <p:nvSpPr>
          <p:cNvPr id="12" name="Shape 9"/>
          <p:cNvSpPr/>
          <p:nvPr/>
        </p:nvSpPr>
        <p:spPr>
          <a:xfrm>
            <a:off x="4379976" y="2377440"/>
            <a:ext cx="731520" cy="731520"/>
          </a:xfrm>
          <a:prstGeom prst="ellipse">
            <a:avLst/>
          </a:prstGeom>
          <a:solidFill>
            <a:srgbClr val="1B5E20"/>
          </a:solidFill>
        </p:spPr>
      </p:sp>
      <p:pic>
        <p:nvPicPr>
          <p:cNvPr id="13" name="Image 1" descr="/home/claude/campus_nav/icons/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254203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21024" y="3246120"/>
            <a:ext cx="224942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Campus Map View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08776" y="1874520"/>
            <a:ext cx="24688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45936" y="2039112"/>
            <a:ext cx="2194560" cy="164592"/>
          </a:xfrm>
          <a:prstGeom prst="roundRect">
            <a:avLst>
              <a:gd name="adj" fmla="val 33333"/>
            </a:avLst>
          </a:prstGeom>
          <a:solidFill>
            <a:srgbClr val="E7ECE5"/>
          </a:solidFill>
        </p:spPr>
      </p:sp>
      <p:sp>
        <p:nvSpPr>
          <p:cNvPr id="17" name="Shape 13"/>
          <p:cNvSpPr/>
          <p:nvPr/>
        </p:nvSpPr>
        <p:spPr>
          <a:xfrm>
            <a:off x="7077456" y="2377440"/>
            <a:ext cx="731520" cy="731520"/>
          </a:xfrm>
          <a:prstGeom prst="ellipse">
            <a:avLst/>
          </a:prstGeom>
          <a:solidFill>
            <a:srgbClr val="1B5E20"/>
          </a:solidFill>
        </p:spPr>
      </p:sp>
      <p:pic>
        <p:nvPicPr>
          <p:cNvPr id="18" name="Image 2" descr="/home/claude/campus_nav/icons/p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48" y="254203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18504" y="3246120"/>
            <a:ext cx="224942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Building Detail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906256" y="1874520"/>
            <a:ext cx="24688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043416" y="2039112"/>
            <a:ext cx="2194560" cy="164592"/>
          </a:xfrm>
          <a:prstGeom prst="roundRect">
            <a:avLst>
              <a:gd name="adj" fmla="val 33333"/>
            </a:avLst>
          </a:prstGeom>
          <a:solidFill>
            <a:srgbClr val="E7ECE5"/>
          </a:solidFill>
        </p:spPr>
      </p:sp>
      <p:sp>
        <p:nvSpPr>
          <p:cNvPr id="22" name="Shape 17"/>
          <p:cNvSpPr/>
          <p:nvPr/>
        </p:nvSpPr>
        <p:spPr>
          <a:xfrm>
            <a:off x="9774936" y="2377440"/>
            <a:ext cx="731520" cy="731520"/>
          </a:xfrm>
          <a:prstGeom prst="ellipse">
            <a:avLst/>
          </a:prstGeom>
          <a:solidFill>
            <a:srgbClr val="1B5E20"/>
          </a:solidFill>
        </p:spPr>
      </p:sp>
      <p:pic>
        <p:nvPicPr>
          <p:cNvPr id="23" name="Image 3" descr="/home/claude/campus_nav/icons/ro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9528" y="2542032"/>
            <a:ext cx="402336" cy="40233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015984" y="3246120"/>
            <a:ext cx="224942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Directions View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813816" y="4206240"/>
            <a:ext cx="24688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50976" y="4370832"/>
            <a:ext cx="2194560" cy="164592"/>
          </a:xfrm>
          <a:prstGeom prst="roundRect">
            <a:avLst>
              <a:gd name="adj" fmla="val 33333"/>
            </a:avLst>
          </a:prstGeom>
          <a:solidFill>
            <a:srgbClr val="E7ECE5"/>
          </a:solidFill>
        </p:spPr>
      </p:sp>
      <p:sp>
        <p:nvSpPr>
          <p:cNvPr id="27" name="Shape 21"/>
          <p:cNvSpPr/>
          <p:nvPr/>
        </p:nvSpPr>
        <p:spPr>
          <a:xfrm>
            <a:off x="1682496" y="4709160"/>
            <a:ext cx="731520" cy="731520"/>
          </a:xfrm>
          <a:prstGeom prst="ellipse">
            <a:avLst/>
          </a:prstGeom>
          <a:solidFill>
            <a:srgbClr val="1B5E20"/>
          </a:solidFill>
        </p:spPr>
      </p:sp>
      <p:pic>
        <p:nvPicPr>
          <p:cNvPr id="28" name="Image 4" descr="/home/claude/campus_nav/icons/flas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7088" y="4873752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23544" y="5577840"/>
            <a:ext cx="224942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 &amp; Lecture Finder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3511296" y="4206240"/>
            <a:ext cx="24688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648456" y="4370832"/>
            <a:ext cx="2194560" cy="164592"/>
          </a:xfrm>
          <a:prstGeom prst="roundRect">
            <a:avLst>
              <a:gd name="adj" fmla="val 33333"/>
            </a:avLst>
          </a:prstGeom>
          <a:solidFill>
            <a:srgbClr val="E7ECE5"/>
          </a:solidFill>
        </p:spPr>
      </p:sp>
      <p:sp>
        <p:nvSpPr>
          <p:cNvPr id="32" name="Shape 25"/>
          <p:cNvSpPr/>
          <p:nvPr/>
        </p:nvSpPr>
        <p:spPr>
          <a:xfrm>
            <a:off x="4379976" y="4709160"/>
            <a:ext cx="731520" cy="731520"/>
          </a:xfrm>
          <a:prstGeom prst="ellipse">
            <a:avLst/>
          </a:prstGeom>
          <a:solidFill>
            <a:srgbClr val="1B5E20"/>
          </a:solidFill>
        </p:spPr>
      </p:sp>
      <p:pic>
        <p:nvPicPr>
          <p:cNvPr id="33" name="Image 5" descr="/home/claude/campus_nav/icons/book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4568" y="4873752"/>
            <a:ext cx="402336" cy="40233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621024" y="5577840"/>
            <a:ext cx="224942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Saved Places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6208776" y="4206240"/>
            <a:ext cx="24688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6345936" y="4370832"/>
            <a:ext cx="2194560" cy="164592"/>
          </a:xfrm>
          <a:prstGeom prst="roundRect">
            <a:avLst>
              <a:gd name="adj" fmla="val 33333"/>
            </a:avLst>
          </a:prstGeom>
          <a:solidFill>
            <a:srgbClr val="E7ECE5"/>
          </a:solidFill>
        </p:spPr>
      </p:sp>
      <p:sp>
        <p:nvSpPr>
          <p:cNvPr id="37" name="Shape 29"/>
          <p:cNvSpPr/>
          <p:nvPr/>
        </p:nvSpPr>
        <p:spPr>
          <a:xfrm>
            <a:off x="7077456" y="4709160"/>
            <a:ext cx="731520" cy="731520"/>
          </a:xfrm>
          <a:prstGeom prst="ellipse">
            <a:avLst/>
          </a:prstGeom>
          <a:solidFill>
            <a:srgbClr val="1B5E20"/>
          </a:solidFill>
        </p:spPr>
      </p:sp>
      <p:pic>
        <p:nvPicPr>
          <p:cNvPr id="38" name="Image 6" descr="/home/claude/campus_nav/icons/build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2048" y="4873752"/>
            <a:ext cx="402336" cy="402336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318504" y="5577840"/>
            <a:ext cx="224942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Services Directory</a:t>
            </a:r>
            <a:endParaRPr lang="en-US" sz="1150" dirty="0"/>
          </a:p>
        </p:txBody>
      </p:sp>
      <p:sp>
        <p:nvSpPr>
          <p:cNvPr id="40" name="Shape 31"/>
          <p:cNvSpPr/>
          <p:nvPr/>
        </p:nvSpPr>
        <p:spPr>
          <a:xfrm>
            <a:off x="8906256" y="4206240"/>
            <a:ext cx="24688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9043416" y="4370832"/>
            <a:ext cx="2194560" cy="164592"/>
          </a:xfrm>
          <a:prstGeom prst="roundRect">
            <a:avLst>
              <a:gd name="adj" fmla="val 33333"/>
            </a:avLst>
          </a:prstGeom>
          <a:solidFill>
            <a:srgbClr val="E7ECE5"/>
          </a:solidFill>
        </p:spPr>
      </p:sp>
      <p:sp>
        <p:nvSpPr>
          <p:cNvPr id="42" name="Shape 33"/>
          <p:cNvSpPr/>
          <p:nvPr/>
        </p:nvSpPr>
        <p:spPr>
          <a:xfrm>
            <a:off x="9774936" y="4709160"/>
            <a:ext cx="731520" cy="731520"/>
          </a:xfrm>
          <a:prstGeom prst="ellipse">
            <a:avLst/>
          </a:prstGeom>
          <a:solidFill>
            <a:srgbClr val="1B5E20"/>
          </a:solidFill>
        </p:spPr>
      </p:sp>
      <p:pic>
        <p:nvPicPr>
          <p:cNvPr id="43" name="Image 7" descr="/home/claude/campus_nav/icons/comment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9528" y="4873752"/>
            <a:ext cx="402336" cy="402336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015984" y="5577840"/>
            <a:ext cx="224942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Onboarding Screens</a:t>
            </a:r>
            <a:endParaRPr lang="en-US" sz="1150" dirty="0"/>
          </a:p>
        </p:txBody>
      </p:sp>
      <p:sp>
        <p:nvSpPr>
          <p:cNvPr id="46" name="Text 3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900" dirty="0"/>
          </a:p>
        </p:txBody>
      </p:sp>
      <p:sp>
        <p:nvSpPr>
          <p:cNvPr id="48" name="Text 3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0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PUTTING THE PROTOTYPE TO THE TEST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0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Usability Testing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 conducted with 5 representative users (students, staff and a visitor) across three core task scenarios.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B5E20"/>
          </a:solidFill>
        </p:spPr>
      </p:sp>
      <p:sp>
        <p:nvSpPr>
          <p:cNvPr id="6" name="Text 4"/>
          <p:cNvSpPr/>
          <p:nvPr/>
        </p:nvSpPr>
        <p:spPr>
          <a:xfrm>
            <a:off x="548640" y="224028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2423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Participants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21488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B5E20"/>
          </a:solidFill>
        </p:spPr>
      </p:sp>
      <p:sp>
        <p:nvSpPr>
          <p:cNvPr id="9" name="Text 7"/>
          <p:cNvSpPr/>
          <p:nvPr/>
        </p:nvSpPr>
        <p:spPr>
          <a:xfrm>
            <a:off x="3337560" y="224028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92%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29000" y="2926080"/>
            <a:ext cx="2423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Success Rate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21488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B5E20"/>
          </a:solidFill>
        </p:spPr>
      </p:sp>
      <p:sp>
        <p:nvSpPr>
          <p:cNvPr id="12" name="Text 10"/>
          <p:cNvSpPr/>
          <p:nvPr/>
        </p:nvSpPr>
        <p:spPr>
          <a:xfrm>
            <a:off x="6126480" y="224028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4.4 / 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17920" y="2926080"/>
            <a:ext cx="2423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Avg. Ease-of-Use Rating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15400" y="21488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B5E20"/>
          </a:solidFill>
        </p:spPr>
      </p:sp>
      <p:sp>
        <p:nvSpPr>
          <p:cNvPr id="15" name="Text 13"/>
          <p:cNvSpPr/>
          <p:nvPr/>
        </p:nvSpPr>
        <p:spPr>
          <a:xfrm>
            <a:off x="8915400" y="224028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38s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006840" y="2926080"/>
            <a:ext cx="2423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Avg. Time to Find a Room</a:t>
            </a:r>
            <a:endParaRPr lang="en-US" sz="11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48640" y="3794760"/>
          <a:ext cx="60350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6858000" y="3794760"/>
            <a:ext cx="4754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1E8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86600" y="3977640"/>
            <a:ext cx="4297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5E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86600" y="4315968"/>
            <a:ext cx="429768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screen was intuitive; users found it fastest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Some users missed the 'Save Location' icon at first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Lab/lecture hall finder needed clearer labeling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Directions screen was praised for its simplicity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ITERATING ON FEEDBACK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0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Design Improvements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Based on usability testing findings, the prototype was revised across three key areas:</a:t>
            </a:r>
            <a:endParaRPr lang="en-US" sz="135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548640" y="2057400"/>
            <a:ext cx="3611880" cy="38862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1E8DD"/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1943100" y="2331720"/>
            <a:ext cx="822960" cy="822960"/>
          </a:xfrm>
          <a:prstGeom prst="ellipse">
            <a:avLst/>
          </a:prstGeom>
          <a:solidFill>
            <a:srgbClr val="1B5E20"/>
          </a:solidFill>
        </p:spPr>
      </p:sp>
      <p:pic>
        <p:nvPicPr>
          <p:cNvPr id="7" name="Image 0" descr="/home/claude/campus_nav/icons/bookmark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128266" y="2516886"/>
            <a:ext cx="452628" cy="452628"/>
          </a:xfrm>
          <a:prstGeom prst="rect">
            <a:avLst/>
          </a:prstGeom>
        </p:spPr>
      </p:pic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731520" y="3337560"/>
            <a:ext cx="3246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30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Save Location Icon</a:t>
            </a:r>
            <a:endParaRPr lang="en-US" sz="1500" dirty="0"/>
          </a:p>
        </p:txBody>
      </p:sp>
      <p:sp>
        <p:nvSpPr>
          <p:cNvPr id="9" name="Shape 6"/>
          <p:cNvSpPr/>
          <p:nvPr>
            <p:custDataLst>
              <p:tags r:id="rId6"/>
            </p:custDataLst>
          </p:nvPr>
        </p:nvSpPr>
        <p:spPr>
          <a:xfrm>
            <a:off x="777240" y="3931920"/>
            <a:ext cx="3154680" cy="320040"/>
          </a:xfrm>
          <a:prstGeom prst="roundRect">
            <a:avLst>
              <a:gd name="adj" fmla="val 17143"/>
            </a:avLst>
          </a:prstGeom>
          <a:solidFill>
            <a:srgbClr val="FBEFD2"/>
          </a:solidFill>
        </p:spPr>
      </p:sp>
      <p:sp>
        <p:nvSpPr>
          <p:cNvPr id="10" name="Text 7"/>
          <p:cNvSpPr/>
          <p:nvPr>
            <p:custDataLst>
              <p:tags r:id="rId7"/>
            </p:custDataLst>
          </p:nvPr>
        </p:nvSpPr>
        <p:spPr>
          <a:xfrm>
            <a:off x="868680" y="3931920"/>
            <a:ext cx="2971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6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BEFORE: usability issue found</a:t>
            </a:r>
            <a:endParaRPr lang="en-US" sz="1000" dirty="0"/>
          </a:p>
        </p:txBody>
      </p:sp>
      <p:sp>
        <p:nvSpPr>
          <p:cNvPr id="11" name="Shape 8"/>
          <p:cNvSpPr/>
          <p:nvPr>
            <p:custDataLst>
              <p:tags r:id="rId8"/>
            </p:custDataLst>
          </p:nvPr>
        </p:nvSpPr>
        <p:spPr>
          <a:xfrm>
            <a:off x="777240" y="4343400"/>
            <a:ext cx="3154680" cy="320040"/>
          </a:xfrm>
          <a:prstGeom prst="roundRect">
            <a:avLst>
              <a:gd name="adj" fmla="val 17143"/>
            </a:avLst>
          </a:prstGeom>
          <a:solidFill>
            <a:srgbClr val="DCEEDC"/>
          </a:solidFill>
        </p:spPr>
      </p:sp>
      <p:sp>
        <p:nvSpPr>
          <p:cNvPr id="12" name="Text 9"/>
          <p:cNvSpPr/>
          <p:nvPr>
            <p:custDataLst>
              <p:tags r:id="rId9"/>
            </p:custDataLst>
          </p:nvPr>
        </p:nvSpPr>
        <p:spPr>
          <a:xfrm>
            <a:off x="868680" y="4343400"/>
            <a:ext cx="2971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D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AFTER: revised in prototype</a:t>
            </a:r>
            <a:endParaRPr lang="en-US" sz="1000" dirty="0"/>
          </a:p>
        </p:txBody>
      </p:sp>
      <p:sp>
        <p:nvSpPr>
          <p:cNvPr id="13" name="Text 10"/>
          <p:cNvSpPr/>
          <p:nvPr>
            <p:custDataLst>
              <p:tags r:id="rId10"/>
            </p:custDataLst>
          </p:nvPr>
        </p:nvSpPr>
        <p:spPr>
          <a:xfrm>
            <a:off x="777240" y="4800600"/>
            <a:ext cx="315468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Moved from a small header icon to a clearly labeled button on the building detail screen.</a:t>
            </a:r>
            <a:endParaRPr lang="en-US" sz="1150" dirty="0"/>
          </a:p>
        </p:txBody>
      </p:sp>
      <p:sp>
        <p:nvSpPr>
          <p:cNvPr id="14" name="Shape 11"/>
          <p:cNvSpPr/>
          <p:nvPr>
            <p:custDataLst>
              <p:tags r:id="rId11"/>
            </p:custDataLst>
          </p:nvPr>
        </p:nvSpPr>
        <p:spPr>
          <a:xfrm>
            <a:off x="4379976" y="2057400"/>
            <a:ext cx="3611880" cy="38862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1E8DD"/>
            </a:solidFill>
            <a:prstDash val="solid"/>
          </a:ln>
        </p:spPr>
      </p:sp>
      <p:sp>
        <p:nvSpPr>
          <p:cNvPr id="15" name="Shape 12"/>
          <p:cNvSpPr/>
          <p:nvPr>
            <p:custDataLst>
              <p:tags r:id="rId12"/>
            </p:custDataLst>
          </p:nvPr>
        </p:nvSpPr>
        <p:spPr>
          <a:xfrm>
            <a:off x="5774436" y="2331720"/>
            <a:ext cx="822960" cy="822960"/>
          </a:xfrm>
          <a:prstGeom prst="ellipse">
            <a:avLst/>
          </a:prstGeom>
          <a:solidFill>
            <a:srgbClr val="1B5E20"/>
          </a:solidFill>
        </p:spPr>
      </p:sp>
      <p:pic>
        <p:nvPicPr>
          <p:cNvPr id="16" name="Image 1" descr="/home/claude/campus_nav/icons/flask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5959602" y="2516886"/>
            <a:ext cx="452628" cy="452628"/>
          </a:xfrm>
          <a:prstGeom prst="rect">
            <a:avLst/>
          </a:prstGeom>
        </p:spPr>
      </p:pic>
      <p:sp>
        <p:nvSpPr>
          <p:cNvPr id="17" name="Text 13"/>
          <p:cNvSpPr/>
          <p:nvPr>
            <p:custDataLst>
              <p:tags r:id="rId15"/>
            </p:custDataLst>
          </p:nvPr>
        </p:nvSpPr>
        <p:spPr>
          <a:xfrm>
            <a:off x="4562856" y="3337560"/>
            <a:ext cx="3246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30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Lab and Hall Labeling</a:t>
            </a:r>
            <a:endParaRPr lang="en-US" sz="1500" dirty="0"/>
          </a:p>
        </p:txBody>
      </p:sp>
      <p:sp>
        <p:nvSpPr>
          <p:cNvPr id="18" name="Shape 14"/>
          <p:cNvSpPr/>
          <p:nvPr>
            <p:custDataLst>
              <p:tags r:id="rId16"/>
            </p:custDataLst>
          </p:nvPr>
        </p:nvSpPr>
        <p:spPr>
          <a:xfrm>
            <a:off x="4608576" y="3931920"/>
            <a:ext cx="3154680" cy="320040"/>
          </a:xfrm>
          <a:prstGeom prst="roundRect">
            <a:avLst>
              <a:gd name="adj" fmla="val 17143"/>
            </a:avLst>
          </a:prstGeom>
          <a:solidFill>
            <a:srgbClr val="FBEFD2"/>
          </a:solidFill>
        </p:spPr>
      </p:sp>
      <p:sp>
        <p:nvSpPr>
          <p:cNvPr id="19" name="Text 15"/>
          <p:cNvSpPr/>
          <p:nvPr>
            <p:custDataLst>
              <p:tags r:id="rId17"/>
            </p:custDataLst>
          </p:nvPr>
        </p:nvSpPr>
        <p:spPr>
          <a:xfrm>
            <a:off x="4700016" y="3931920"/>
            <a:ext cx="2971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6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BEFORE: usability issue found</a:t>
            </a:r>
            <a:endParaRPr lang="en-US" sz="1000" dirty="0"/>
          </a:p>
        </p:txBody>
      </p:sp>
      <p:sp>
        <p:nvSpPr>
          <p:cNvPr id="20" name="Shape 16"/>
          <p:cNvSpPr/>
          <p:nvPr>
            <p:custDataLst>
              <p:tags r:id="rId18"/>
            </p:custDataLst>
          </p:nvPr>
        </p:nvSpPr>
        <p:spPr>
          <a:xfrm>
            <a:off x="4608576" y="4343400"/>
            <a:ext cx="3154680" cy="320040"/>
          </a:xfrm>
          <a:prstGeom prst="roundRect">
            <a:avLst>
              <a:gd name="adj" fmla="val 17143"/>
            </a:avLst>
          </a:prstGeom>
          <a:solidFill>
            <a:srgbClr val="DCEEDC"/>
          </a:solidFill>
        </p:spPr>
      </p:sp>
      <p:sp>
        <p:nvSpPr>
          <p:cNvPr id="21" name="Text 17"/>
          <p:cNvSpPr/>
          <p:nvPr>
            <p:custDataLst>
              <p:tags r:id="rId19"/>
            </p:custDataLst>
          </p:nvPr>
        </p:nvSpPr>
        <p:spPr>
          <a:xfrm>
            <a:off x="4700016" y="4343400"/>
            <a:ext cx="2971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D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AFTER: revised in prototype</a:t>
            </a:r>
            <a:endParaRPr lang="en-US" sz="1000" dirty="0"/>
          </a:p>
        </p:txBody>
      </p:sp>
      <p:sp>
        <p:nvSpPr>
          <p:cNvPr id="22" name="Text 18"/>
          <p:cNvSpPr/>
          <p:nvPr>
            <p:custDataLst>
              <p:tags r:id="rId20"/>
            </p:custDataLst>
          </p:nvPr>
        </p:nvSpPr>
        <p:spPr>
          <a:xfrm>
            <a:off x="4608576" y="4800600"/>
            <a:ext cx="315468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Added room-number badges and floor indicators to reduce ambiguity between similar rooms.</a:t>
            </a:r>
            <a:endParaRPr lang="en-US" sz="1150" dirty="0"/>
          </a:p>
        </p:txBody>
      </p:sp>
      <p:sp>
        <p:nvSpPr>
          <p:cNvPr id="23" name="Shape 19"/>
          <p:cNvSpPr/>
          <p:nvPr>
            <p:custDataLst>
              <p:tags r:id="rId21"/>
            </p:custDataLst>
          </p:nvPr>
        </p:nvSpPr>
        <p:spPr>
          <a:xfrm>
            <a:off x="8211312" y="2057400"/>
            <a:ext cx="3611880" cy="38862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1E8DD"/>
            </a:solidFill>
            <a:prstDash val="solid"/>
          </a:ln>
        </p:spPr>
      </p:sp>
      <p:sp>
        <p:nvSpPr>
          <p:cNvPr id="24" name="Shape 20"/>
          <p:cNvSpPr/>
          <p:nvPr>
            <p:custDataLst>
              <p:tags r:id="rId22"/>
            </p:custDataLst>
          </p:nvPr>
        </p:nvSpPr>
        <p:spPr>
          <a:xfrm>
            <a:off x="9605772" y="2331720"/>
            <a:ext cx="822960" cy="822960"/>
          </a:xfrm>
          <a:prstGeom prst="ellipse">
            <a:avLst/>
          </a:prstGeom>
          <a:solidFill>
            <a:srgbClr val="1B5E20"/>
          </a:solidFill>
        </p:spPr>
      </p:sp>
      <p:pic>
        <p:nvPicPr>
          <p:cNvPr id="25" name="Image 2" descr="/home/claude/campus_nav/icons/sitemap.png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9790938" y="2516886"/>
            <a:ext cx="452628" cy="452628"/>
          </a:xfrm>
          <a:prstGeom prst="rect">
            <a:avLst/>
          </a:prstGeom>
        </p:spPr>
      </p:pic>
      <p:sp>
        <p:nvSpPr>
          <p:cNvPr id="26" name="Text 21"/>
          <p:cNvSpPr/>
          <p:nvPr>
            <p:custDataLst>
              <p:tags r:id="rId25"/>
            </p:custDataLst>
          </p:nvPr>
        </p:nvSpPr>
        <p:spPr>
          <a:xfrm>
            <a:off x="8394192" y="3337560"/>
            <a:ext cx="3246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30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Navigation Structure</a:t>
            </a:r>
            <a:endParaRPr lang="en-US" sz="1500" dirty="0"/>
          </a:p>
        </p:txBody>
      </p:sp>
      <p:sp>
        <p:nvSpPr>
          <p:cNvPr id="27" name="Shape 22"/>
          <p:cNvSpPr/>
          <p:nvPr>
            <p:custDataLst>
              <p:tags r:id="rId26"/>
            </p:custDataLst>
          </p:nvPr>
        </p:nvSpPr>
        <p:spPr>
          <a:xfrm>
            <a:off x="8439912" y="3931920"/>
            <a:ext cx="3154680" cy="320040"/>
          </a:xfrm>
          <a:prstGeom prst="roundRect">
            <a:avLst>
              <a:gd name="adj" fmla="val 17143"/>
            </a:avLst>
          </a:prstGeom>
          <a:solidFill>
            <a:srgbClr val="FBEFD2"/>
          </a:solidFill>
        </p:spPr>
      </p:sp>
      <p:sp>
        <p:nvSpPr>
          <p:cNvPr id="28" name="Text 23"/>
          <p:cNvSpPr/>
          <p:nvPr>
            <p:custDataLst>
              <p:tags r:id="rId27"/>
            </p:custDataLst>
          </p:nvPr>
        </p:nvSpPr>
        <p:spPr>
          <a:xfrm>
            <a:off x="8531352" y="3931920"/>
            <a:ext cx="2971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6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BEFORE: usability issue found</a:t>
            </a:r>
            <a:endParaRPr lang="en-US" sz="1000" dirty="0"/>
          </a:p>
        </p:txBody>
      </p:sp>
      <p:sp>
        <p:nvSpPr>
          <p:cNvPr id="29" name="Shape 24"/>
          <p:cNvSpPr/>
          <p:nvPr>
            <p:custDataLst>
              <p:tags r:id="rId28"/>
            </p:custDataLst>
          </p:nvPr>
        </p:nvSpPr>
        <p:spPr>
          <a:xfrm>
            <a:off x="8439912" y="4343400"/>
            <a:ext cx="3154680" cy="320040"/>
          </a:xfrm>
          <a:prstGeom prst="roundRect">
            <a:avLst>
              <a:gd name="adj" fmla="val 17143"/>
            </a:avLst>
          </a:prstGeom>
          <a:solidFill>
            <a:srgbClr val="DCEEDC"/>
          </a:solidFill>
        </p:spPr>
      </p:sp>
      <p:sp>
        <p:nvSpPr>
          <p:cNvPr id="30" name="Text 25"/>
          <p:cNvSpPr/>
          <p:nvPr>
            <p:custDataLst>
              <p:tags r:id="rId29"/>
            </p:custDataLst>
          </p:nvPr>
        </p:nvSpPr>
        <p:spPr>
          <a:xfrm>
            <a:off x="8531352" y="4343400"/>
            <a:ext cx="2971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D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AFTER: revised in prototype</a:t>
            </a:r>
            <a:endParaRPr lang="en-US" sz="1000" dirty="0"/>
          </a:p>
        </p:txBody>
      </p:sp>
      <p:sp>
        <p:nvSpPr>
          <p:cNvPr id="31" name="Text 26"/>
          <p:cNvSpPr/>
          <p:nvPr>
            <p:custDataLst>
              <p:tags r:id="rId30"/>
            </p:custDataLst>
          </p:nvPr>
        </p:nvSpPr>
        <p:spPr>
          <a:xfrm>
            <a:off x="8439912" y="4800600"/>
            <a:ext cx="315468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3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Simplified the bottom tab bar from 5 to 4 items, removing redundant paths to the same content.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114800"/>
            <a:ext cx="5029200" cy="5029200"/>
          </a:xfrm>
          <a:prstGeom prst="ellipse">
            <a:avLst/>
          </a:prstGeom>
          <a:solidFill>
            <a:srgbClr val="2E7D32">
              <a:alpha val="4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WRAPPING UP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 and Future Improvements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7899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F0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Campus Navigator demonstrates how a focused, user-centered HCI process, research, wireframing, prototyping, and testing, can turn a common campus frustration into a simple, touch friendly mobile solution. Usability testing confirmed strong task success and positive user sentiment, and design revisions closed the gaps that testing surfaced.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IMPROVEMENTS</a:t>
            </a:r>
            <a:endParaRPr lang="en-US" sz="1300" dirty="0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548640" y="3383280"/>
            <a:ext cx="685800" cy="685800"/>
          </a:xfrm>
          <a:prstGeom prst="ellipse">
            <a:avLst/>
          </a:prstGeom>
          <a:solidFill>
            <a:srgbClr val="D4A017"/>
          </a:solidFill>
        </p:spPr>
      </p:sp>
      <p:pic>
        <p:nvPicPr>
          <p:cNvPr id="8" name="Image 0" descr="/home/claude/campus_nav/icons/rocket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02945" y="3537585"/>
            <a:ext cx="377190" cy="377190"/>
          </a:xfrm>
          <a:prstGeom prst="rect">
            <a:avLst/>
          </a:prstGeom>
        </p:spPr>
      </p:pic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457200" y="4206240"/>
            <a:ext cx="2788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Indoor Navigation</a:t>
            </a:r>
            <a:endParaRPr lang="en-US" sz="1350" dirty="0"/>
          </a:p>
        </p:txBody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457200" y="4590288"/>
            <a:ext cx="27889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3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 by turn indoor routing for multi-floor buildings and complex hallways.</a:t>
            </a:r>
            <a:endParaRPr lang="en-US" sz="1100" dirty="0"/>
          </a:p>
        </p:txBody>
      </p:sp>
      <p:sp>
        <p:nvSpPr>
          <p:cNvPr id="11" name="Shape 8"/>
          <p:cNvSpPr/>
          <p:nvPr>
            <p:custDataLst>
              <p:tags r:id="rId6"/>
            </p:custDataLst>
          </p:nvPr>
        </p:nvSpPr>
        <p:spPr>
          <a:xfrm>
            <a:off x="3337560" y="3383280"/>
            <a:ext cx="685800" cy="685800"/>
          </a:xfrm>
          <a:prstGeom prst="ellipse">
            <a:avLst/>
          </a:prstGeom>
          <a:solidFill>
            <a:srgbClr val="D4A017"/>
          </a:solidFill>
        </p:spPr>
      </p:sp>
      <p:pic>
        <p:nvPicPr>
          <p:cNvPr id="12" name="Image 1" descr="/home/claude/campus_nav/icons/sync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491865" y="353758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/>
          <p:nvPr>
            <p:custDataLst>
              <p:tags r:id="rId9"/>
            </p:custDataLst>
          </p:nvPr>
        </p:nvSpPr>
        <p:spPr>
          <a:xfrm>
            <a:off x="3246120" y="4206240"/>
            <a:ext cx="2788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Live Updates</a:t>
            </a:r>
            <a:endParaRPr lang="en-US" sz="1350" dirty="0"/>
          </a:p>
        </p:txBody>
      </p:sp>
      <p:sp>
        <p:nvSpPr>
          <p:cNvPr id="14" name="Text 10"/>
          <p:cNvSpPr/>
          <p:nvPr>
            <p:custDataLst>
              <p:tags r:id="rId10"/>
            </p:custDataLst>
          </p:nvPr>
        </p:nvSpPr>
        <p:spPr>
          <a:xfrm>
            <a:off x="3246120" y="4590288"/>
            <a:ext cx="27889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3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time closures, event routing, and construction detours.</a:t>
            </a:r>
            <a:endParaRPr lang="en-US" sz="1100" dirty="0"/>
          </a:p>
        </p:txBody>
      </p:sp>
      <p:sp>
        <p:nvSpPr>
          <p:cNvPr id="15" name="Shape 11"/>
          <p:cNvSpPr/>
          <p:nvPr>
            <p:custDataLst>
              <p:tags r:id="rId11"/>
            </p:custDataLst>
          </p:nvPr>
        </p:nvSpPr>
        <p:spPr>
          <a:xfrm>
            <a:off x="6126480" y="3383280"/>
            <a:ext cx="685800" cy="685800"/>
          </a:xfrm>
          <a:prstGeom prst="ellipse">
            <a:avLst/>
          </a:prstGeom>
          <a:solidFill>
            <a:srgbClr val="D4A017"/>
          </a:solidFill>
        </p:spPr>
      </p:sp>
      <p:pic>
        <p:nvPicPr>
          <p:cNvPr id="16" name="Image 2" descr="/home/claude/campus_nav/icons/access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280785" y="3537585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/>
          <p:nvPr>
            <p:custDataLst>
              <p:tags r:id="rId14"/>
            </p:custDataLst>
          </p:nvPr>
        </p:nvSpPr>
        <p:spPr>
          <a:xfrm>
            <a:off x="6035040" y="4206240"/>
            <a:ext cx="2788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Enhanced Accessibility</a:t>
            </a:r>
            <a:endParaRPr lang="en-US" sz="1350" dirty="0"/>
          </a:p>
        </p:txBody>
      </p:sp>
      <p:sp>
        <p:nvSpPr>
          <p:cNvPr id="18" name="Text 13"/>
          <p:cNvSpPr/>
          <p:nvPr>
            <p:custDataLst>
              <p:tags r:id="rId15"/>
            </p:custDataLst>
          </p:nvPr>
        </p:nvSpPr>
        <p:spPr>
          <a:xfrm>
            <a:off x="6035040" y="4590288"/>
            <a:ext cx="27889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3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free route options and screen-reader optimization.</a:t>
            </a:r>
            <a:endParaRPr lang="en-US" sz="1100" dirty="0"/>
          </a:p>
        </p:txBody>
      </p:sp>
      <p:sp>
        <p:nvSpPr>
          <p:cNvPr id="19" name="Shape 14"/>
          <p:cNvSpPr/>
          <p:nvPr>
            <p:custDataLst>
              <p:tags r:id="rId16"/>
            </p:custDataLst>
          </p:nvPr>
        </p:nvSpPr>
        <p:spPr>
          <a:xfrm>
            <a:off x="8915400" y="3383280"/>
            <a:ext cx="685800" cy="685800"/>
          </a:xfrm>
          <a:prstGeom prst="ellipse">
            <a:avLst/>
          </a:prstGeom>
          <a:solidFill>
            <a:srgbClr val="D4A017"/>
          </a:solidFill>
        </p:spPr>
      </p:sp>
      <p:pic>
        <p:nvPicPr>
          <p:cNvPr id="20" name="Image 3" descr="/home/claude/campus_nav/icons/chart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9069705" y="3537585"/>
            <a:ext cx="377190" cy="377190"/>
          </a:xfrm>
          <a:prstGeom prst="rect">
            <a:avLst/>
          </a:prstGeom>
        </p:spPr>
      </p:pic>
      <p:sp>
        <p:nvSpPr>
          <p:cNvPr id="21" name="Text 15"/>
          <p:cNvSpPr/>
          <p:nvPr>
            <p:custDataLst>
              <p:tags r:id="rId19"/>
            </p:custDataLst>
          </p:nvPr>
        </p:nvSpPr>
        <p:spPr>
          <a:xfrm>
            <a:off x="8823960" y="4206240"/>
            <a:ext cx="2788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Usage Analytics</a:t>
            </a:r>
            <a:endParaRPr lang="en-US" sz="1350" dirty="0"/>
          </a:p>
        </p:txBody>
      </p:sp>
      <p:sp>
        <p:nvSpPr>
          <p:cNvPr id="22" name="Text 16"/>
          <p:cNvSpPr/>
          <p:nvPr>
            <p:custDataLst>
              <p:tags r:id="rId20"/>
            </p:custDataLst>
          </p:nvPr>
        </p:nvSpPr>
        <p:spPr>
          <a:xfrm>
            <a:off x="8823960" y="4590288"/>
            <a:ext cx="27889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3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Insights into popular destinations to guide future signage and features.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0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2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3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4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5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6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7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8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9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10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11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12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13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14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15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16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17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18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19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20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21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22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23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24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25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26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27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28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29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30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31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32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33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34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35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36.xml><?xml version="1.0" encoding="utf-8"?>
<p:tagLst xmlns:p="http://schemas.openxmlformats.org/presentationml/2006/main">
  <p:tag name="KSO_WM_DIAGRAM_VIRTUALLY_FRAME" val="{&quot;height&quot;:322.56000000000006,&quot;left&quot;:43.2,&quot;top&quot;:133.2,&quot;width&quot;:867.6}"/>
</p:tagLst>
</file>

<file path=ppt/tags/tag37.xml><?xml version="1.0" encoding="utf-8"?>
<p:tagLst xmlns:p="http://schemas.openxmlformats.org/presentationml/2006/main">
  <p:tag name="KSO_WM_DIAGRAM_VIRTUALLY_FRAME" val="{&quot;height&quot;:334.8,&quot;left&quot;:43.2,&quot;top&quot;:133.2,&quot;width&quot;:864}"/>
</p:tagLst>
</file>

<file path=ppt/tags/tag38.xml><?xml version="1.0" encoding="utf-8"?>
<p:tagLst xmlns:p="http://schemas.openxmlformats.org/presentationml/2006/main">
  <p:tag name="KSO_WM_DIAGRAM_VIRTUALLY_FRAME" val="{&quot;height&quot;:334.8,&quot;left&quot;:43.2,&quot;top&quot;:133.2,&quot;width&quot;:864}"/>
</p:tagLst>
</file>

<file path=ppt/tags/tag39.xml><?xml version="1.0" encoding="utf-8"?>
<p:tagLst xmlns:p="http://schemas.openxmlformats.org/presentationml/2006/main">
  <p:tag name="KSO_WM_DIAGRAM_VIRTUALLY_FRAME" val="{&quot;height&quot;:334.8,&quot;left&quot;:43.2,&quot;top&quot;:133.2,&quot;width&quot;:864}"/>
</p:tagLst>
</file>

<file path=ppt/tags/tag40.xml><?xml version="1.0" encoding="utf-8"?>
<p:tagLst xmlns:p="http://schemas.openxmlformats.org/presentationml/2006/main">
  <p:tag name="KSO_WM_DIAGRAM_VIRTUALLY_FRAME" val="{&quot;height&quot;:334.8,&quot;left&quot;:43.2,&quot;top&quot;:133.2,&quot;width&quot;:864}"/>
</p:tagLst>
</file>

<file path=ppt/tags/tag41.xml><?xml version="1.0" encoding="utf-8"?>
<p:tagLst xmlns:p="http://schemas.openxmlformats.org/presentationml/2006/main">
  <p:tag name="KSO_WM_DIAGRAM_VIRTUALLY_FRAME" val="{&quot;height&quot;:334.8,&quot;left&quot;:43.2,&quot;top&quot;:133.2,&quot;width&quot;:864}"/>
</p:tagLst>
</file>

<file path=ppt/tags/tag42.xml><?xml version="1.0" encoding="utf-8"?>
<p:tagLst xmlns:p="http://schemas.openxmlformats.org/presentationml/2006/main">
  <p:tag name="KSO_WM_DIAGRAM_VIRTUALLY_FRAME" val="{&quot;height&quot;:334.8,&quot;left&quot;:43.2,&quot;top&quot;:133.2,&quot;width&quot;:864}"/>
</p:tagLst>
</file>

<file path=ppt/tags/tag43.xml><?xml version="1.0" encoding="utf-8"?>
<p:tagLst xmlns:p="http://schemas.openxmlformats.org/presentationml/2006/main">
  <p:tag name="KSO_WM_DIAGRAM_VIRTUALLY_FRAME" val="{&quot;height&quot;:334.8,&quot;left&quot;:43.2,&quot;top&quot;:133.2,&quot;width&quot;:864}"/>
</p:tagLst>
</file>

<file path=ppt/tags/tag44.xml><?xml version="1.0" encoding="utf-8"?>
<p:tagLst xmlns:p="http://schemas.openxmlformats.org/presentationml/2006/main">
  <p:tag name="KSO_WM_DIAGRAM_VIRTUALLY_FRAME" val="{&quot;height&quot;:334.8,&quot;left&quot;:43.2,&quot;top&quot;:133.2,&quot;width&quot;:864}"/>
</p:tagLst>
</file>

<file path=ppt/tags/tag45.xml><?xml version="1.0" encoding="utf-8"?>
<p:tagLst xmlns:p="http://schemas.openxmlformats.org/presentationml/2006/main">
  <p:tag name="KSO_WM_DIAGRAM_VIRTUALLY_FRAME" val="{&quot;height&quot;:334.8,&quot;left&quot;:43.2,&quot;top&quot;:133.2,&quot;width&quot;:864}"/>
</p:tagLst>
</file>

<file path=ppt/tags/tag46.xml><?xml version="1.0" encoding="utf-8"?>
<p:tagLst xmlns:p="http://schemas.openxmlformats.org/presentationml/2006/main">
  <p:tag name="KSO_WM_DIAGRAM_VIRTUALLY_FRAME" val="{&quot;height&quot;:334.8,&quot;left&quot;:43.2,&quot;top&quot;:133.2,&quot;width&quot;:864}"/>
</p:tagLst>
</file>

<file path=ppt/tags/tag47.xml><?xml version="1.0" encoding="utf-8"?>
<p:tagLst xmlns:p="http://schemas.openxmlformats.org/presentationml/2006/main">
  <p:tag name="KSO_WM_DIAGRAM_VIRTUALLY_FRAME" val="{&quot;height&quot;:306,&quot;left&quot;:43.2,&quot;top&quot;:162,&quot;width&quot;:887.76}"/>
</p:tagLst>
</file>

<file path=ppt/tags/tag48.xml><?xml version="1.0" encoding="utf-8"?>
<p:tagLst xmlns:p="http://schemas.openxmlformats.org/presentationml/2006/main">
  <p:tag name="KSO_WM_DIAGRAM_VIRTUALLY_FRAME" val="{&quot;height&quot;:306,&quot;left&quot;:43.2,&quot;top&quot;:162,&quot;width&quot;:887.76}"/>
</p:tagLst>
</file>

<file path=ppt/tags/tag49.xml><?xml version="1.0" encoding="utf-8"?>
<p:tagLst xmlns:p="http://schemas.openxmlformats.org/presentationml/2006/main">
  <p:tag name="KSO_WM_DIAGRAM_VIRTUALLY_FRAME" val="{&quot;height&quot;:306,&quot;left&quot;:43.2,&quot;top&quot;:162,&quot;width&quot;:887.76}"/>
</p:tagLst>
</file>

<file path=ppt/tags/tag50.xml><?xml version="1.0" encoding="utf-8"?>
<p:tagLst xmlns:p="http://schemas.openxmlformats.org/presentationml/2006/main">
  <p:tag name="KSO_WM_DIAGRAM_VIRTUALLY_FRAME" val="{&quot;height&quot;:306,&quot;left&quot;:43.2,&quot;top&quot;:162,&quot;width&quot;:887.76}"/>
</p:tagLst>
</file>

<file path=ppt/tags/tag51.xml><?xml version="1.0" encoding="utf-8"?>
<p:tagLst xmlns:p="http://schemas.openxmlformats.org/presentationml/2006/main">
  <p:tag name="KSO_WM_DIAGRAM_VIRTUALLY_FRAME" val="{&quot;height&quot;:306,&quot;left&quot;:43.2,&quot;top&quot;:162,&quot;width&quot;:887.76}"/>
</p:tagLst>
</file>

<file path=ppt/tags/tag52.xml><?xml version="1.0" encoding="utf-8"?>
<p:tagLst xmlns:p="http://schemas.openxmlformats.org/presentationml/2006/main">
  <p:tag name="KSO_WM_DIAGRAM_VIRTUALLY_FRAME" val="{&quot;height&quot;:306,&quot;left&quot;:43.2,&quot;top&quot;:162,&quot;width&quot;:887.76}"/>
</p:tagLst>
</file>

<file path=ppt/tags/tag53.xml><?xml version="1.0" encoding="utf-8"?>
<p:tagLst xmlns:p="http://schemas.openxmlformats.org/presentationml/2006/main">
  <p:tag name="KSO_WM_DIAGRAM_VIRTUALLY_FRAME" val="{&quot;height&quot;:306,&quot;left&quot;:43.2,&quot;top&quot;:162,&quot;width&quot;:887.76}"/>
</p:tagLst>
</file>

<file path=ppt/tags/tag54.xml><?xml version="1.0" encoding="utf-8"?>
<p:tagLst xmlns:p="http://schemas.openxmlformats.org/presentationml/2006/main">
  <p:tag name="KSO_WM_DIAGRAM_VIRTUALLY_FRAME" val="{&quot;height&quot;:306,&quot;left&quot;:43.2,&quot;top&quot;:162,&quot;width&quot;:887.76}"/>
</p:tagLst>
</file>

<file path=ppt/tags/tag55.xml><?xml version="1.0" encoding="utf-8"?>
<p:tagLst xmlns:p="http://schemas.openxmlformats.org/presentationml/2006/main">
  <p:tag name="KSO_WM_DIAGRAM_VIRTUALLY_FRAME" val="{&quot;height&quot;:306,&quot;left&quot;:43.2,&quot;top&quot;:162,&quot;width&quot;:887.76}"/>
</p:tagLst>
</file>

<file path=ppt/tags/tag56.xml><?xml version="1.0" encoding="utf-8"?>
<p:tagLst xmlns:p="http://schemas.openxmlformats.org/presentationml/2006/main">
  <p:tag name="KSO_WM_DIAGRAM_VIRTUALLY_FRAME" val="{&quot;height&quot;:306,&quot;left&quot;:43.2,&quot;top&quot;:162,&quot;width&quot;:887.76}"/>
</p:tagLst>
</file>

<file path=ppt/tags/tag57.xml><?xml version="1.0" encoding="utf-8"?>
<p:tagLst xmlns:p="http://schemas.openxmlformats.org/presentationml/2006/main">
  <p:tag name="KSO_WM_DIAGRAM_VIRTUALLY_FRAME" val="{&quot;height&quot;:306,&quot;left&quot;:43.2,&quot;top&quot;:162,&quot;width&quot;:887.76}"/>
</p:tagLst>
</file>

<file path=ppt/tags/tag58.xml><?xml version="1.0" encoding="utf-8"?>
<p:tagLst xmlns:p="http://schemas.openxmlformats.org/presentationml/2006/main">
  <p:tag name="KSO_WM_DIAGRAM_VIRTUALLY_FRAME" val="{&quot;height&quot;:306,&quot;left&quot;:43.2,&quot;top&quot;:162,&quot;width&quot;:887.76}"/>
</p:tagLst>
</file>

<file path=ppt/tags/tag59.xml><?xml version="1.0" encoding="utf-8"?>
<p:tagLst xmlns:p="http://schemas.openxmlformats.org/presentationml/2006/main">
  <p:tag name="KSO_WM_DIAGRAM_VIRTUALLY_FRAME" val="{&quot;height&quot;:306,&quot;left&quot;:43.2,&quot;top&quot;:162,&quot;width&quot;:887.76}"/>
</p:tagLst>
</file>

<file path=ppt/tags/tag60.xml><?xml version="1.0" encoding="utf-8"?>
<p:tagLst xmlns:p="http://schemas.openxmlformats.org/presentationml/2006/main">
  <p:tag name="KSO_WM_DIAGRAM_VIRTUALLY_FRAME" val="{&quot;height&quot;:306,&quot;left&quot;:43.2,&quot;top&quot;:162,&quot;width&quot;:887.76}"/>
</p:tagLst>
</file>

<file path=ppt/tags/tag61.xml><?xml version="1.0" encoding="utf-8"?>
<p:tagLst xmlns:p="http://schemas.openxmlformats.org/presentationml/2006/main">
  <p:tag name="KSO_WM_DIAGRAM_VIRTUALLY_FRAME" val="{&quot;height&quot;:306,&quot;left&quot;:43.2,&quot;top&quot;:162,&quot;width&quot;:887.76}"/>
</p:tagLst>
</file>

<file path=ppt/tags/tag62.xml><?xml version="1.0" encoding="utf-8"?>
<p:tagLst xmlns:p="http://schemas.openxmlformats.org/presentationml/2006/main">
  <p:tag name="KSO_WM_DIAGRAM_VIRTUALLY_FRAME" val="{&quot;height&quot;:306,&quot;left&quot;:43.2,&quot;top&quot;:162,&quot;width&quot;:887.76}"/>
</p:tagLst>
</file>

<file path=ppt/tags/tag63.xml><?xml version="1.0" encoding="utf-8"?>
<p:tagLst xmlns:p="http://schemas.openxmlformats.org/presentationml/2006/main">
  <p:tag name="KSO_WM_DIAGRAM_VIRTUALLY_FRAME" val="{&quot;height&quot;:306,&quot;left&quot;:43.2,&quot;top&quot;:162,&quot;width&quot;:887.76}"/>
</p:tagLst>
</file>

<file path=ppt/tags/tag64.xml><?xml version="1.0" encoding="utf-8"?>
<p:tagLst xmlns:p="http://schemas.openxmlformats.org/presentationml/2006/main">
  <p:tag name="KSO_WM_DIAGRAM_VIRTUALLY_FRAME" val="{&quot;height&quot;:306,&quot;left&quot;:43.2,&quot;top&quot;:162,&quot;width&quot;:887.76}"/>
</p:tagLst>
</file>

<file path=ppt/tags/tag65.xml><?xml version="1.0" encoding="utf-8"?>
<p:tagLst xmlns:p="http://schemas.openxmlformats.org/presentationml/2006/main">
  <p:tag name="KSO_WM_DIAGRAM_VIRTUALLY_FRAME" val="{&quot;height&quot;:306,&quot;left&quot;:43.2,&quot;top&quot;:162,&quot;width&quot;:887.76}"/>
</p:tagLst>
</file>

<file path=ppt/tags/tag66.xml><?xml version="1.0" encoding="utf-8"?>
<p:tagLst xmlns:p="http://schemas.openxmlformats.org/presentationml/2006/main">
  <p:tag name="KSO_WM_DIAGRAM_VIRTUALLY_FRAME" val="{&quot;height&quot;:306,&quot;left&quot;:43.2,&quot;top&quot;:162,&quot;width&quot;:887.76}"/>
</p:tagLst>
</file>

<file path=ppt/tags/tag67.xml><?xml version="1.0" encoding="utf-8"?>
<p:tagLst xmlns:p="http://schemas.openxmlformats.org/presentationml/2006/main">
  <p:tag name="KSO_WM_DIAGRAM_VIRTUALLY_FRAME" val="{&quot;height&quot;:306,&quot;left&quot;:43.2,&quot;top&quot;:162,&quot;width&quot;:887.76}"/>
</p:tagLst>
</file>

<file path=ppt/tags/tag68.xml><?xml version="1.0" encoding="utf-8"?>
<p:tagLst xmlns:p="http://schemas.openxmlformats.org/presentationml/2006/main">
  <p:tag name="KSO_WM_DIAGRAM_VIRTUALLY_FRAME" val="{&quot;height&quot;:306,&quot;left&quot;:43.2,&quot;top&quot;:162,&quot;width&quot;:887.76}"/>
</p:tagLst>
</file>

<file path=ppt/tags/tag69.xml><?xml version="1.0" encoding="utf-8"?>
<p:tagLst xmlns:p="http://schemas.openxmlformats.org/presentationml/2006/main">
  <p:tag name="KSO_WM_DIAGRAM_VIRTUALLY_FRAME" val="{&quot;height&quot;:306,&quot;left&quot;:43.2,&quot;top&quot;:162,&quot;width&quot;:887.76}"/>
</p:tagLst>
</file>

<file path=ppt/tags/tag70.xml><?xml version="1.0" encoding="utf-8"?>
<p:tagLst xmlns:p="http://schemas.openxmlformats.org/presentationml/2006/main">
  <p:tag name="KSO_WM_DIAGRAM_VIRTUALLY_FRAME" val="{&quot;height&quot;:306,&quot;left&quot;:43.2,&quot;top&quot;:162,&quot;width&quot;:887.76}"/>
</p:tagLst>
</file>

<file path=ppt/tags/tag71.xml><?xml version="1.0" encoding="utf-8"?>
<p:tagLst xmlns:p="http://schemas.openxmlformats.org/presentationml/2006/main">
  <p:tag name="KSO_WM_DIAGRAM_VIRTUALLY_FRAME" val="{&quot;height&quot;:306,&quot;left&quot;:43.2,&quot;top&quot;:162,&quot;width&quot;:887.76}"/>
</p:tagLst>
</file>

<file path=ppt/tags/tag72.xml><?xml version="1.0" encoding="utf-8"?>
<p:tagLst xmlns:p="http://schemas.openxmlformats.org/presentationml/2006/main">
  <p:tag name="KSO_WM_DIAGRAM_VIRTUALLY_FRAME" val="{&quot;height&quot;:306,&quot;left&quot;:43.2,&quot;top&quot;:162,&quot;width&quot;:887.76}"/>
</p:tagLst>
</file>

<file path=ppt/tags/tag73.xml><?xml version="1.0" encoding="utf-8"?>
<p:tagLst xmlns:p="http://schemas.openxmlformats.org/presentationml/2006/main">
  <p:tag name="KSO_WM_DIAGRAM_VIRTUALLY_FRAME" val="{&quot;height&quot;:306,&quot;left&quot;:43.2,&quot;top&quot;:162,&quot;width&quot;:887.76}"/>
</p:tagLst>
</file>

<file path=ppt/tags/tag74.xml><?xml version="1.0" encoding="utf-8"?>
<p:tagLst xmlns:p="http://schemas.openxmlformats.org/presentationml/2006/main">
  <p:tag name="KSO_WM_DIAGRAM_VIRTUALLY_FRAME" val="{&quot;height&quot;:188.63999999999996,&quot;left&quot;:36,&quot;top&quot;:266.4,&quot;width&quot;:878.4}"/>
</p:tagLst>
</file>

<file path=ppt/tags/tag75.xml><?xml version="1.0" encoding="utf-8"?>
<p:tagLst xmlns:p="http://schemas.openxmlformats.org/presentationml/2006/main">
  <p:tag name="KSO_WM_DIAGRAM_VIRTUALLY_FRAME" val="{&quot;height&quot;:188.63999999999996,&quot;left&quot;:36,&quot;top&quot;:266.4,&quot;width&quot;:878.4}"/>
</p:tagLst>
</file>

<file path=ppt/tags/tag76.xml><?xml version="1.0" encoding="utf-8"?>
<p:tagLst xmlns:p="http://schemas.openxmlformats.org/presentationml/2006/main">
  <p:tag name="KSO_WM_DIAGRAM_VIRTUALLY_FRAME" val="{&quot;height&quot;:188.63999999999996,&quot;left&quot;:36,&quot;top&quot;:266.4,&quot;width&quot;:878.4}"/>
</p:tagLst>
</file>

<file path=ppt/tags/tag77.xml><?xml version="1.0" encoding="utf-8"?>
<p:tagLst xmlns:p="http://schemas.openxmlformats.org/presentationml/2006/main">
  <p:tag name="KSO_WM_DIAGRAM_VIRTUALLY_FRAME" val="{&quot;height&quot;:188.63999999999996,&quot;left&quot;:36,&quot;top&quot;:266.4,&quot;width&quot;:878.4}"/>
</p:tagLst>
</file>

<file path=ppt/tags/tag78.xml><?xml version="1.0" encoding="utf-8"?>
<p:tagLst xmlns:p="http://schemas.openxmlformats.org/presentationml/2006/main">
  <p:tag name="KSO_WM_DIAGRAM_VIRTUALLY_FRAME" val="{&quot;height&quot;:188.63999999999996,&quot;left&quot;:36,&quot;top&quot;:266.4,&quot;width&quot;:878.4}"/>
</p:tagLst>
</file>

<file path=ppt/tags/tag79.xml><?xml version="1.0" encoding="utf-8"?>
<p:tagLst xmlns:p="http://schemas.openxmlformats.org/presentationml/2006/main">
  <p:tag name="KSO_WM_DIAGRAM_VIRTUALLY_FRAME" val="{&quot;height&quot;:188.63999999999996,&quot;left&quot;:36,&quot;top&quot;:266.4,&quot;width&quot;:878.4}"/>
</p:tagLst>
</file>

<file path=ppt/tags/tag80.xml><?xml version="1.0" encoding="utf-8"?>
<p:tagLst xmlns:p="http://schemas.openxmlformats.org/presentationml/2006/main">
  <p:tag name="KSO_WM_DIAGRAM_VIRTUALLY_FRAME" val="{&quot;height&quot;:188.63999999999996,&quot;left&quot;:36,&quot;top&quot;:266.4,&quot;width&quot;:878.4}"/>
</p:tagLst>
</file>

<file path=ppt/tags/tag81.xml><?xml version="1.0" encoding="utf-8"?>
<p:tagLst xmlns:p="http://schemas.openxmlformats.org/presentationml/2006/main">
  <p:tag name="KSO_WM_DIAGRAM_VIRTUALLY_FRAME" val="{&quot;height&quot;:188.63999999999996,&quot;left&quot;:36,&quot;top&quot;:266.4,&quot;width&quot;:878.4}"/>
</p:tagLst>
</file>

<file path=ppt/tags/tag82.xml><?xml version="1.0" encoding="utf-8"?>
<p:tagLst xmlns:p="http://schemas.openxmlformats.org/presentationml/2006/main">
  <p:tag name="KSO_WM_DIAGRAM_VIRTUALLY_FRAME" val="{&quot;height&quot;:188.63999999999996,&quot;left&quot;:36,&quot;top&quot;:266.4,&quot;width&quot;:878.4}"/>
</p:tagLst>
</file>

<file path=ppt/tags/tag83.xml><?xml version="1.0" encoding="utf-8"?>
<p:tagLst xmlns:p="http://schemas.openxmlformats.org/presentationml/2006/main">
  <p:tag name="KSO_WM_DIAGRAM_VIRTUALLY_FRAME" val="{&quot;height&quot;:188.63999999999996,&quot;left&quot;:36,&quot;top&quot;:266.4,&quot;width&quot;:878.4}"/>
</p:tagLst>
</file>

<file path=ppt/tags/tag84.xml><?xml version="1.0" encoding="utf-8"?>
<p:tagLst xmlns:p="http://schemas.openxmlformats.org/presentationml/2006/main">
  <p:tag name="KSO_WM_DIAGRAM_VIRTUALLY_FRAME" val="{&quot;height&quot;:188.63999999999996,&quot;left&quot;:36,&quot;top&quot;:266.4,&quot;width&quot;:878.4}"/>
</p:tagLst>
</file>

<file path=ppt/tags/tag85.xml><?xml version="1.0" encoding="utf-8"?>
<p:tagLst xmlns:p="http://schemas.openxmlformats.org/presentationml/2006/main">
  <p:tag name="KSO_WM_DIAGRAM_VIRTUALLY_FRAME" val="{&quot;height&quot;:188.63999999999996,&quot;left&quot;:36,&quot;top&quot;:266.4,&quot;width&quot;:878.4}"/>
</p:tagLst>
</file>

<file path=ppt/tags/tag86.xml><?xml version="1.0" encoding="utf-8"?>
<p:tagLst xmlns:p="http://schemas.openxmlformats.org/presentationml/2006/main">
  <p:tag name="KSO_WM_DIAGRAM_VIRTUALLY_FRAME" val="{&quot;height&quot;:188.63999999999996,&quot;left&quot;:36,&quot;top&quot;:266.4,&quot;width&quot;:878.4}"/>
</p:tagLst>
</file>

<file path=ppt/tags/tag87.xml><?xml version="1.0" encoding="utf-8"?>
<p:tagLst xmlns:p="http://schemas.openxmlformats.org/presentationml/2006/main">
  <p:tag name="KSO_WM_DIAGRAM_VIRTUALLY_FRAME" val="{&quot;height&quot;:188.63999999999996,&quot;left&quot;:36,&quot;top&quot;:266.4,&quot;width&quot;:878.4}"/>
</p:tagLst>
</file>

<file path=ppt/tags/tag88.xml><?xml version="1.0" encoding="utf-8"?>
<p:tagLst xmlns:p="http://schemas.openxmlformats.org/presentationml/2006/main">
  <p:tag name="KSO_WM_DIAGRAM_VIRTUALLY_FRAME" val="{&quot;height&quot;:188.63999999999996,&quot;left&quot;:36,&quot;top&quot;:266.4,&quot;width&quot;:878.4}"/>
</p:tagLst>
</file>

<file path=ppt/tags/tag89.xml><?xml version="1.0" encoding="utf-8"?>
<p:tagLst xmlns:p="http://schemas.openxmlformats.org/presentationml/2006/main">
  <p:tag name="KSO_WM_DIAGRAM_VIRTUALLY_FRAME" val="{&quot;height&quot;:188.63999999999996,&quot;left&quot;:36,&quot;top&quot;:266.4,&quot;width&quot;:878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6296</Words>
  <Application>WPS Presentation</Application>
  <PresentationFormat>On-screen Show (16:9)</PresentationFormat>
  <Paragraphs>321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Cecil Kituu</cp:lastModifiedBy>
  <cp:revision>2</cp:revision>
  <dcterms:created xsi:type="dcterms:W3CDTF">2026-08-13T09:32:00Z</dcterms:created>
  <dcterms:modified xsi:type="dcterms:W3CDTF">2026-08-13T12:27:49Z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CAAE56CFA62F47D4BB322EA9277EDEC7_12</vt:lpwstr>
  </property>
  <property fmtid="{D5CDD505-2E9C-101B-9397-08002B2CF9AE}" pid="3" name="KSOProductBuildVer">
    <vt:lpwstr>2057-12.2.0.23206</vt:lpwstr>
  </property>
</Properties>
</file>